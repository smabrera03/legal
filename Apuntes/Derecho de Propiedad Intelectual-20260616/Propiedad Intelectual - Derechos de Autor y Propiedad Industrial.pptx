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4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tin Iranzi" initials="MI" lastIdx="8" clrIdx="0">
    <p:extLst>
      <p:ext uri="{19B8F6BF-5375-455C-9EA6-DF929625EA0E}">
        <p15:presenceInfo xmlns:p15="http://schemas.microsoft.com/office/powerpoint/2012/main" userId="05a17e207352ef6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06T11:09:32.859" idx="1">
    <p:pos x="5599" y="216"/>
    <p:text>Un video de youtube?</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6-06T11:18:00.232" idx="2">
    <p:pos x="5213" y="335"/>
    <p:text>Si hoy muere una persona humana que posee propiedad intelectual, hasta cuando tienen derecho los herederos sobre ella?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6-06T11:20:00.841" idx="3">
    <p:pos x="5397" y="593"/>
    <p:text>Si hoy fallece una persona con derechos de propiedad intelectual hasta cuando poseen el derecho sus herederos?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6-06T11:22:01.918" idx="4">
    <p:pos x="5432" y="210"/>
    <p:text>Que se entiende por derecho comun?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6-06T11:45:54.689" idx="5">
    <p:pos x="5562" y="231"/>
    <p:text>Se les ocurre un ejemplo de patente de proceso y de producto?</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6-09T11:03:07.065" idx="6">
    <p:pos x="5601" y="119"/>
    <p:text>Un metodo para potabilizar agua con arsenico posee los tres requisitos?
Una taza en la que se pude poner galletitas?
Una formula matematica?</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6-09T11:04:07.525" idx="7">
    <p:pos x="5759" y="-1407"/>
    <p:text>Por que los programas de computacion estan excluidos?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6-06-09T11:05:35.305" idx="8">
    <p:pos x="5523" y="119"/>
    <p:text>Que era la actividad inventiva?</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s-AR" sz="4400" b="0" strike="noStrike" spc="-1">
                <a:solidFill>
                  <a:srgbClr val="000000"/>
                </a:solidFill>
                <a:latin typeface="Arial"/>
              </a:rPr>
              <a:t>Pulse para desplazar la diapositiva</a:t>
            </a: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s-AR" sz="2000" b="0" strike="noStrike" spc="-1">
                <a:solidFill>
                  <a:srgbClr val="000000"/>
                </a:solidFill>
                <a:latin typeface="Arial"/>
              </a:rPr>
              <a:t>Pulse para editar el formato de las notas</a:t>
            </a:r>
          </a:p>
        </p:txBody>
      </p:sp>
      <p:sp>
        <p:nvSpPr>
          <p:cNvPr id="8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s-AR" sz="1400" b="0" strike="noStrike" spc="-1">
                <a:solidFill>
                  <a:srgbClr val="000000"/>
                </a:solidFill>
                <a:latin typeface="Times New Roman"/>
              </a:rPr>
              <a:t>&lt;cabecera&gt;</a:t>
            </a:r>
          </a:p>
        </p:txBody>
      </p:sp>
      <p:sp>
        <p:nvSpPr>
          <p:cNvPr id="85"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es-AR" sz="1400" b="0" strike="noStrike" spc="-1">
                <a:solidFill>
                  <a:srgbClr val="000000"/>
                </a:solidFill>
                <a:latin typeface="Times New Roman"/>
              </a:defRPr>
            </a:lvl1pPr>
          </a:lstStyle>
          <a:p>
            <a:pPr indent="0" algn="r">
              <a:buNone/>
            </a:pPr>
            <a:r>
              <a:rPr lang="es-AR" sz="1400" b="0" strike="noStrike" spc="-1">
                <a:solidFill>
                  <a:srgbClr val="000000"/>
                </a:solidFill>
                <a:latin typeface="Times New Roman"/>
              </a:rPr>
              <a:t>&lt;fecha/hora&gt;</a:t>
            </a: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buNone/>
              <a:defRPr lang="es-AR" sz="1400" b="0" strike="noStrike" spc="-1">
                <a:solidFill>
                  <a:srgbClr val="000000"/>
                </a:solidFill>
                <a:latin typeface="Times New Roman"/>
              </a:defRPr>
            </a:lvl1pPr>
          </a:lstStyle>
          <a:p>
            <a:pPr indent="0">
              <a:buNone/>
            </a:pPr>
            <a:r>
              <a:rPr lang="es-AR" sz="1400" b="0" strike="noStrike" spc="-1">
                <a:solidFill>
                  <a:srgbClr val="000000"/>
                </a:solidFill>
                <a:latin typeface="Times New Roman"/>
              </a:rPr>
              <a:t>&lt;pie de página&gt;</a:t>
            </a: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es-AR" sz="1400" b="0" strike="noStrike" spc="-1">
                <a:solidFill>
                  <a:srgbClr val="000000"/>
                </a:solidFill>
                <a:latin typeface="Times New Roman"/>
              </a:defRPr>
            </a:lvl1pPr>
          </a:lstStyle>
          <a:p>
            <a:pPr indent="0" algn="r">
              <a:buNone/>
            </a:pPr>
            <a:fld id="{3D5AE571-8750-4E93-9691-C24EDE373194}" type="slidenum">
              <a:rPr lang="es-AR" sz="1400" b="0" strike="noStrike" spc="-1">
                <a:solidFill>
                  <a:srgbClr val="000000"/>
                </a:solidFill>
                <a:latin typeface="Times New Roman"/>
              </a:rPr>
              <a:t>‹Nº›</a:t>
            </a:fld>
            <a:endParaRPr lang="es-AR"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sldNum" idx="10"/>
          </p:nvPr>
        </p:nvSpPr>
        <p:spPr>
          <a:xfrm>
            <a:off x="3884760" y="8685360"/>
            <a:ext cx="2970720" cy="456120"/>
          </a:xfrm>
          <a:prstGeom prst="rect">
            <a:avLst/>
          </a:prstGeom>
          <a:noFill/>
          <a:ln w="9360">
            <a:noFill/>
          </a:ln>
        </p:spPr>
        <p:txBody>
          <a:bodyPr lIns="0" tIns="0" rIns="0" bIns="0" numCol="1" spcCol="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358A084B-7D47-4959-9DC4-65850ED81455}" type="slidenum">
              <a:rPr lang="es-ES" sz="1200" b="0" strike="noStrike" spc="-1">
                <a:solidFill>
                  <a:srgbClr val="000000"/>
                </a:solidFill>
                <a:latin typeface="Times New Roman"/>
              </a:rPr>
              <a:t>5</a:t>
            </a:fld>
            <a:endParaRPr lang="es-AR" sz="1200" b="0" strike="noStrike" spc="-1">
              <a:solidFill>
                <a:srgbClr val="000000"/>
              </a:solidFill>
              <a:latin typeface="Times New Roman"/>
            </a:endParaRPr>
          </a:p>
        </p:txBody>
      </p:sp>
      <p:sp>
        <p:nvSpPr>
          <p:cNvPr id="151" name="PlaceHolder 2"/>
          <p:cNvSpPr>
            <a:spLocks noGrp="1" noRot="1" noChangeAspect="1"/>
          </p:cNvSpPr>
          <p:nvPr>
            <p:ph type="sldImg"/>
          </p:nvPr>
        </p:nvSpPr>
        <p:spPr>
          <a:xfrm>
            <a:off x="1143000" y="685800"/>
            <a:ext cx="4570920" cy="3427920"/>
          </a:xfrm>
          <a:prstGeom prst="rect">
            <a:avLst/>
          </a:prstGeom>
          <a:ln w="0">
            <a:noFill/>
          </a:ln>
        </p:spPr>
      </p:sp>
      <p:sp>
        <p:nvSpPr>
          <p:cNvPr id="152" name="PlaceHolder 3"/>
          <p:cNvSpPr>
            <a:spLocks noGrp="1"/>
          </p:cNvSpPr>
          <p:nvPr>
            <p:ph type="body"/>
          </p:nvPr>
        </p:nvSpPr>
        <p:spPr>
          <a:xfrm>
            <a:off x="685800" y="4343400"/>
            <a:ext cx="5485320" cy="4113720"/>
          </a:xfrm>
          <a:prstGeom prst="rect">
            <a:avLst/>
          </a:prstGeom>
          <a:noFill/>
          <a:ln w="9360">
            <a:noFill/>
          </a:ln>
        </p:spPr>
        <p:txBody>
          <a:bodyPr lIns="0" tIns="0" rIns="0" bIns="0" numCol="1" spcCol="0" anchor="t">
            <a:noAutofit/>
          </a:bodyPr>
          <a:lstStyle/>
          <a:p>
            <a:pPr marL="216000" indent="0">
              <a:lnSpc>
                <a:spcPct val="100000"/>
              </a:lnSpc>
              <a:buNone/>
              <a:tabLst>
                <a:tab pos="0" algn="l"/>
              </a:tabLst>
            </a:pPr>
            <a:r>
              <a:rPr lang="es-ES" sz="2000" b="1" strike="noStrike" spc="-1">
                <a:solidFill>
                  <a:srgbClr val="000000"/>
                </a:solidFill>
                <a:latin typeface="Arial"/>
              </a:rPr>
              <a:t>Decreto 165/94 =&gt; Modifica concepto de propiedad intelectual en cuanto a software  // Ley 25036 =&gt; modifica y amplía normativa de propiedad intelectual (Ley 11723)</a:t>
            </a:r>
            <a:endParaRPr lang="es-AR" sz="2000" b="0" strike="noStrike" spc="-1">
              <a:solidFill>
                <a:srgbClr val="000000"/>
              </a:solidFill>
              <a:latin typeface="Arial"/>
            </a:endParaRPr>
          </a:p>
          <a:p>
            <a:pPr marL="216000" indent="0">
              <a:lnSpc>
                <a:spcPct val="100000"/>
              </a:lnSpc>
              <a:buNone/>
              <a:tabLst>
                <a:tab pos="0" algn="l"/>
              </a:tabLst>
            </a:pPr>
            <a:endParaRPr lang="es-AR" sz="20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4893B83D-E0C2-4203-9D27-0CEB6BE09CF4}" type="slidenum">
              <a:t>‹Nº›</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s-AR"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2189993E-E8D3-4DC0-9C49-321535EF9937}" type="slidenum">
              <a:t>‹Nº›</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0D0EF302-555A-489D-9D1A-FA20A5CD1F0F}" type="slidenum">
              <a:t>‹Nº›</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4E141895-FDAA-4662-85F1-5DF2FC0A5647}" type="slidenum">
              <a:t>‹Nº›</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F6359955-F241-4106-A093-8606752D8058}" type="slidenum">
              <a:t>‹Nº›</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es-AR"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D540416C-465D-41BB-ADED-C19A8DC32A11}" type="slidenum">
              <a:t>‹Nº›</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AFCC5024-E133-41CD-8839-A4FBB8AE1DD5}" type="slidenum">
              <a:t>‹Nº›</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014291E3-A2CB-4FE2-BB55-CF88325F7522}" type="slidenum">
              <a:t>‹Nº›</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40CEA7ED-613F-4A22-967E-D704E9F227DA}" type="slidenum">
              <a:t>‹Nº›</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563DC228-4CBC-41F5-B325-C9BB93104CF3}" type="slidenum">
              <a:t>‹Nº›</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3130D7C9-C52C-47B2-AFF3-7C60C4016DFF}" type="slidenum">
              <a:t>‹Nº›</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781AB1AB-95BB-4F6E-9086-468FD10FC207}" type="slidenum">
              <a:t>‹Nº›</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14920389-2B8F-41B4-89D2-D6723D35EEBC}" type="slidenum">
              <a:t>‹Nº›</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s-AR"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5D657108-E532-4A6F-9067-93D331FF4595}" type="slidenum">
              <a:t>‹Nº›</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5D71877E-D86F-4F25-B2B9-4AECA2D24FF1}" type="slidenum">
              <a:t>‹Nº›</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CB2D2971-CB3C-462C-BC65-8198368D00DB}" type="slidenum">
              <a:t>‹Nº›</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FA544D1B-74BD-4DAF-A11A-7FF64EB5FF10}" type="slidenum">
              <a:t>‹Nº›</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es-AR" sz="32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77591A14-6A26-4328-AE13-7CC342EBF079}" type="slidenum">
              <a:t>‹Nº›</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BDBB25A1-F995-448F-9027-1D518B8C9261}" type="slidenum">
              <a:t>‹Nº›</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E85CF682-913C-4DC5-BF16-E55B5998C950}" type="slidenum">
              <a:t>‹Nº›</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93214B0A-8422-4945-AC06-0BBDE074B032}" type="slidenum">
              <a:t>‹Nº›</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586CA3B7-BC19-44C3-81D5-FF404806B1FC}" type="slidenum">
              <a:t>‹Nº›</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32EF061A-44FF-4C42-9FA0-555AE2164C13}" type="slidenum">
              <a:t>‹Nº›</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s-AR" sz="4400" b="0" strike="noStrike" spc="-1">
              <a:solidFill>
                <a:srgbClr val="000000"/>
              </a:solidFill>
              <a:latin typeface="Arial"/>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spcBef>
                <a:spcPts val="1417"/>
              </a:spcBef>
              <a:buNone/>
            </a:pPr>
            <a:endParaRPr lang="es-AR" sz="3200" b="0" strike="noStrike" spc="-1">
              <a:solidFill>
                <a:srgbClr val="000000"/>
              </a:solidFill>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2C075B45-0A8A-47E5-8378-CBE9AFD97B8C}" type="slidenum">
              <a:t>‹Nº›</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tile tx="0" ty="0" sx="100000" sy="100000" algn="tl"/>
        </a:blipFill>
        <a:effectLst/>
      </p:bgPr>
    </p:bg>
    <p:spTree>
      <p:nvGrpSpPr>
        <p:cNvPr id="1" name=""/>
        <p:cNvGrpSpPr/>
        <p:nvPr/>
      </p:nvGrpSpPr>
      <p:grpSpPr>
        <a:xfrm>
          <a:off x="0" y="0"/>
          <a:ext cx="0" cy="0"/>
          <a:chOff x="0" y="0"/>
          <a:chExt cx="0" cy="0"/>
        </a:xfrm>
      </p:grpSpPr>
      <p:sp>
        <p:nvSpPr>
          <p:cNvPr id="5" name="PlaceHolder 1"/>
          <p:cNvSpPr>
            <a:spLocks noGrp="1"/>
          </p:cNvSpPr>
          <p:nvPr>
            <p:ph type="ftr" idx="1"/>
          </p:nvPr>
        </p:nvSpPr>
        <p:spPr>
          <a:xfrm>
            <a:off x="3124080" y="6245280"/>
            <a:ext cx="2894400" cy="475200"/>
          </a:xfrm>
          <a:prstGeom prst="rect">
            <a:avLst/>
          </a:prstGeom>
          <a:noFill/>
          <a:ln w="9360">
            <a:noFill/>
          </a:ln>
        </p:spPr>
        <p:txBody>
          <a:bodyPr lIns="90000" tIns="45000" rIns="90000" bIns="45000" numCol="1" spcCol="0" anchor="t">
            <a:noAutofit/>
          </a:bodyPr>
          <a:lstStyle>
            <a:lvl1pPr indent="0" algn="ctr">
              <a:lnSpc>
                <a:spcPct val="100000"/>
              </a:lnSpc>
              <a:buNone/>
              <a:tabLst>
                <a:tab pos="0" algn="l"/>
              </a:tabLst>
              <a:defRPr lang="es-AR" sz="1400" b="0" strike="noStrike" spc="-1">
                <a:solidFill>
                  <a:srgbClr val="000000"/>
                </a:solidFill>
                <a:latin typeface="Times New Roman"/>
              </a:defRPr>
            </a:lvl1pPr>
          </a:lstStyle>
          <a:p>
            <a:pPr indent="0" algn="ctr">
              <a:lnSpc>
                <a:spcPct val="100000"/>
              </a:lnSpc>
              <a:buNone/>
              <a:tabLst>
                <a:tab pos="0" algn="l"/>
              </a:tabLst>
            </a:pPr>
            <a:r>
              <a:rPr lang="es-AR" sz="1400" b="0" strike="noStrike" spc="-1">
                <a:solidFill>
                  <a:srgbClr val="000000"/>
                </a:solidFill>
                <a:latin typeface="Times New Roman"/>
              </a:rPr>
              <a:t>&lt;pie de página&gt;</a:t>
            </a:r>
          </a:p>
        </p:txBody>
      </p:sp>
      <p:sp>
        <p:nvSpPr>
          <p:cNvPr id="6" name="PlaceHolder 2"/>
          <p:cNvSpPr>
            <a:spLocks noGrp="1"/>
          </p:cNvSpPr>
          <p:nvPr>
            <p:ph type="sldNum" idx="2"/>
          </p:nvPr>
        </p:nvSpPr>
        <p:spPr>
          <a:xfrm>
            <a:off x="6553080" y="6245280"/>
            <a:ext cx="2132640" cy="475200"/>
          </a:xfrm>
          <a:prstGeom prst="rect">
            <a:avLst/>
          </a:prstGeom>
          <a:noFill/>
          <a:ln w="9360">
            <a:noFill/>
          </a:ln>
        </p:spPr>
        <p:txBody>
          <a:bodyPr lIns="90000" tIns="45000" rIns="90000" bIns="45000" numCol="1" spcCol="0" anchor="t">
            <a:noAutofit/>
          </a:bodyPr>
          <a:lstStyle>
            <a:lvl1pPr indent="0" algn="r">
              <a:lnSpc>
                <a:spcPct val="100000"/>
              </a:lnSpc>
              <a:buNone/>
              <a:tabLst>
                <a:tab pos="0" algn="l"/>
              </a:tabLst>
              <a:defRPr lang="es-ES" sz="1400" b="0" strike="noStrike" spc="-1">
                <a:solidFill>
                  <a:srgbClr val="000000"/>
                </a:solidFill>
                <a:latin typeface="Arial"/>
              </a:defRPr>
            </a:lvl1pPr>
          </a:lstStyle>
          <a:p>
            <a:pPr indent="0" algn="r">
              <a:lnSpc>
                <a:spcPct val="100000"/>
              </a:lnSpc>
              <a:buNone/>
              <a:tabLst>
                <a:tab pos="0" algn="l"/>
              </a:tabLst>
            </a:pPr>
            <a:fld id="{BBAFD13B-EFE8-45FD-B615-602450D0C2EF}" type="slidenum">
              <a:rPr lang="es-ES" sz="1400" b="0" strike="noStrike" spc="-1">
                <a:solidFill>
                  <a:srgbClr val="000000"/>
                </a:solidFill>
                <a:latin typeface="Arial"/>
              </a:rPr>
              <a:t>‹Nº›</a:t>
            </a:fld>
            <a:endParaRPr lang="es-AR" sz="1400" b="0" strike="noStrike" spc="-1">
              <a:solidFill>
                <a:srgbClr val="000000"/>
              </a:solidFill>
              <a:latin typeface="Times New Roman"/>
            </a:endParaRPr>
          </a:p>
        </p:txBody>
      </p:sp>
      <p:sp>
        <p:nvSpPr>
          <p:cNvPr id="2" name="PlaceHolder 3"/>
          <p:cNvSpPr>
            <a:spLocks noGrp="1"/>
          </p:cNvSpPr>
          <p:nvPr>
            <p:ph type="dt" idx="3"/>
          </p:nvPr>
        </p:nvSpPr>
        <p:spPr>
          <a:xfrm>
            <a:off x="457200" y="6245280"/>
            <a:ext cx="2132640" cy="475200"/>
          </a:xfrm>
          <a:prstGeom prst="rect">
            <a:avLst/>
          </a:prstGeom>
          <a:noFill/>
          <a:ln w="9360">
            <a:noFill/>
          </a:ln>
        </p:spPr>
        <p:txBody>
          <a:bodyPr lIns="90000" tIns="45000" rIns="90000" bIns="45000" numCol="1" spcCol="0" anchor="t">
            <a:noAutofit/>
          </a:bodyPr>
          <a:lstStyle>
            <a:lvl1pPr indent="0">
              <a:buNone/>
              <a:defRPr lang="es-AR" sz="1400" b="0" strike="noStrike" spc="-1">
                <a:solidFill>
                  <a:srgbClr val="000000"/>
                </a:solidFill>
                <a:latin typeface="Times New Roman"/>
              </a:defRPr>
            </a:lvl1pPr>
          </a:lstStyle>
          <a:p>
            <a:pPr indent="0">
              <a:buNone/>
            </a:pPr>
            <a:r>
              <a:rPr lang="es-AR" sz="1400" b="0" strike="noStrike" spc="-1">
                <a:solidFill>
                  <a:srgbClr val="000000"/>
                </a:solidFill>
                <a:latin typeface="Times New Roman"/>
              </a:rPr>
              <a:t>&lt;fecha/hora&gt;</a:t>
            </a: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tile tx="0" ty="0" sx="100000" sy="100000" algn="tl"/>
        </a:blipFill>
        <a:effectLst/>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3124080" y="6245280"/>
            <a:ext cx="2894400" cy="475200"/>
          </a:xfrm>
          <a:prstGeom prst="rect">
            <a:avLst/>
          </a:prstGeom>
          <a:noFill/>
          <a:ln w="9360">
            <a:noFill/>
          </a:ln>
        </p:spPr>
        <p:txBody>
          <a:bodyPr lIns="90000" tIns="45000" rIns="90000" bIns="45000" numCol="1" spcCol="0" anchor="t">
            <a:noAutofit/>
          </a:bodyPr>
          <a:lstStyle>
            <a:lvl1pPr indent="0" algn="ctr">
              <a:lnSpc>
                <a:spcPct val="100000"/>
              </a:lnSpc>
              <a:buNone/>
              <a:tabLst>
                <a:tab pos="0" algn="l"/>
              </a:tabLst>
              <a:defRPr lang="es-AR" sz="1400" b="0" strike="noStrike" spc="-1">
                <a:solidFill>
                  <a:srgbClr val="000000"/>
                </a:solidFill>
                <a:latin typeface="Times New Roman"/>
              </a:defRPr>
            </a:lvl1pPr>
          </a:lstStyle>
          <a:p>
            <a:pPr indent="0" algn="ctr">
              <a:lnSpc>
                <a:spcPct val="100000"/>
              </a:lnSpc>
              <a:buNone/>
              <a:tabLst>
                <a:tab pos="0" algn="l"/>
              </a:tabLst>
            </a:pPr>
            <a:r>
              <a:rPr lang="es-AR" sz="1400" b="0" strike="noStrike" spc="-1">
                <a:solidFill>
                  <a:srgbClr val="000000"/>
                </a:solidFill>
                <a:latin typeface="Times New Roman"/>
              </a:rPr>
              <a:t>&lt;pie de página&gt;</a:t>
            </a:r>
          </a:p>
        </p:txBody>
      </p:sp>
      <p:sp>
        <p:nvSpPr>
          <p:cNvPr id="42" name="PlaceHolder 2"/>
          <p:cNvSpPr>
            <a:spLocks noGrp="1"/>
          </p:cNvSpPr>
          <p:nvPr>
            <p:ph type="sldNum" idx="5"/>
          </p:nvPr>
        </p:nvSpPr>
        <p:spPr>
          <a:xfrm>
            <a:off x="6553080" y="6245280"/>
            <a:ext cx="2132640" cy="475200"/>
          </a:xfrm>
          <a:prstGeom prst="rect">
            <a:avLst/>
          </a:prstGeom>
          <a:noFill/>
          <a:ln w="9360">
            <a:noFill/>
          </a:ln>
        </p:spPr>
        <p:txBody>
          <a:bodyPr lIns="90000" tIns="45000" rIns="90000" bIns="45000" numCol="1" spcCol="0" anchor="t">
            <a:noAutofit/>
          </a:bodyPr>
          <a:lstStyle>
            <a:lvl1pPr indent="0" algn="r">
              <a:lnSpc>
                <a:spcPct val="100000"/>
              </a:lnSpc>
              <a:buNone/>
              <a:tabLst>
                <a:tab pos="0" algn="l"/>
              </a:tabLst>
              <a:defRPr lang="es-ES" sz="1400" b="0" strike="noStrike" spc="-1">
                <a:solidFill>
                  <a:srgbClr val="000000"/>
                </a:solidFill>
                <a:latin typeface="Arial"/>
              </a:defRPr>
            </a:lvl1pPr>
          </a:lstStyle>
          <a:p>
            <a:pPr indent="0" algn="r">
              <a:lnSpc>
                <a:spcPct val="100000"/>
              </a:lnSpc>
              <a:buNone/>
              <a:tabLst>
                <a:tab pos="0" algn="l"/>
              </a:tabLst>
            </a:pPr>
            <a:fld id="{9EB76B35-355D-4F54-AC45-0D82F6B0F303}" type="slidenum">
              <a:rPr lang="es-ES" sz="1400" b="0" strike="noStrike" spc="-1">
                <a:solidFill>
                  <a:srgbClr val="000000"/>
                </a:solidFill>
                <a:latin typeface="Arial"/>
              </a:rPr>
              <a:t>‹Nº›</a:t>
            </a:fld>
            <a:endParaRPr lang="es-AR" sz="1400" b="0" strike="noStrike" spc="-1">
              <a:solidFill>
                <a:srgbClr val="000000"/>
              </a:solidFill>
              <a:latin typeface="Times New Roman"/>
            </a:endParaRPr>
          </a:p>
        </p:txBody>
      </p:sp>
      <p:sp>
        <p:nvSpPr>
          <p:cNvPr id="43" name="PlaceHolder 3"/>
          <p:cNvSpPr>
            <a:spLocks noGrp="1"/>
          </p:cNvSpPr>
          <p:nvPr>
            <p:ph type="dt" idx="6"/>
          </p:nvPr>
        </p:nvSpPr>
        <p:spPr>
          <a:xfrm>
            <a:off x="457200" y="6245280"/>
            <a:ext cx="2132640" cy="475200"/>
          </a:xfrm>
          <a:prstGeom prst="rect">
            <a:avLst/>
          </a:prstGeom>
          <a:noFill/>
          <a:ln w="9360">
            <a:noFill/>
          </a:ln>
        </p:spPr>
        <p:txBody>
          <a:bodyPr lIns="90000" tIns="45000" rIns="90000" bIns="45000" numCol="1" spcCol="0" anchor="t">
            <a:noAutofit/>
          </a:bodyPr>
          <a:lstStyle>
            <a:lvl1pPr indent="0">
              <a:buNone/>
              <a:defRPr lang="es-AR" sz="1400" b="0" strike="noStrike" spc="-1">
                <a:solidFill>
                  <a:srgbClr val="000000"/>
                </a:solidFill>
                <a:latin typeface="Times New Roman"/>
              </a:defRPr>
            </a:lvl1pPr>
          </a:lstStyle>
          <a:p>
            <a:pPr indent="0">
              <a:buNone/>
            </a:pPr>
            <a:r>
              <a:rPr lang="es-AR" sz="1400" b="0" strike="noStrike" spc="-1">
                <a:solidFill>
                  <a:srgbClr val="000000"/>
                </a:solidFill>
                <a:latin typeface="Times New Roman"/>
              </a:rPr>
              <a:t>&lt;fecha/hora&gt;</a:t>
            </a:r>
          </a:p>
        </p:txBody>
      </p:sp>
      <p:sp>
        <p:nvSpPr>
          <p:cNvPr id="44"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45"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comments" Target="../comments/comment5.xm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4"/>
          <p:cNvSpPr/>
          <p:nvPr/>
        </p:nvSpPr>
        <p:spPr>
          <a:xfrm>
            <a:off x="2286000" y="1873080"/>
            <a:ext cx="4570920" cy="3657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s-ES" sz="1800" b="0" strike="noStrike" spc="-1">
              <a:solidFill>
                <a:srgbClr val="000000"/>
              </a:solidFill>
              <a:latin typeface="Arial"/>
              <a:ea typeface="DejaVu Sans"/>
            </a:endParaRPr>
          </a:p>
        </p:txBody>
      </p:sp>
      <p:sp>
        <p:nvSpPr>
          <p:cNvPr id="89" name="Text Box 5"/>
          <p:cNvSpPr/>
          <p:nvPr/>
        </p:nvSpPr>
        <p:spPr>
          <a:xfrm>
            <a:off x="1148040" y="754560"/>
            <a:ext cx="7344360" cy="661032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2800" b="0" strike="noStrike" spc="-1">
                <a:solidFill>
                  <a:srgbClr val="000000"/>
                </a:solidFill>
                <a:latin typeface="Times New Roman"/>
                <a:ea typeface="DejaVu Sans"/>
              </a:rPr>
              <a:t> Derechos Intelectuales e Industriales aplicados a la Ingeniería</a:t>
            </a:r>
            <a:endParaRPr lang="es-AR" sz="2800" b="0" strike="noStrike" spc="-1">
              <a:solidFill>
                <a:srgbClr val="000000"/>
              </a:solidFill>
              <a:latin typeface="Arial"/>
            </a:endParaRPr>
          </a:p>
          <a:p>
            <a:pPr algn="ctr">
              <a:lnSpc>
                <a:spcPct val="100000"/>
              </a:lnSpc>
            </a:pPr>
            <a:r>
              <a:rPr lang="es-ES" sz="800" b="0" strike="noStrike" spc="-1">
                <a:solidFill>
                  <a:srgbClr val="000000"/>
                </a:solidFill>
                <a:latin typeface="Times New Roman"/>
                <a:ea typeface="DejaVu Sans"/>
              </a:rPr>
              <a:t>_______________________________________________________________________________________________________________________________________</a:t>
            </a:r>
            <a:endParaRPr lang="es-AR" sz="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La Ingeniería y la cosa inmaterial</a:t>
            </a:r>
            <a:endParaRPr lang="es-AR" sz="2800" b="0" strike="noStrike" spc="-1">
              <a:solidFill>
                <a:srgbClr val="000000"/>
              </a:solidFill>
              <a:latin typeface="Arial"/>
            </a:endParaRPr>
          </a:p>
          <a:p>
            <a:pPr algn="ctr">
              <a:lnSpc>
                <a:spcPct val="100000"/>
              </a:lnSpc>
            </a:pP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Ley 24.481 – Patentes de Invención        Productos y tecnología</a:t>
            </a:r>
            <a:endParaRPr lang="es-AR" sz="2800" b="0" strike="noStrike" spc="-1">
              <a:solidFill>
                <a:srgbClr val="000000"/>
              </a:solidFill>
              <a:latin typeface="Arial"/>
            </a:endParaRPr>
          </a:p>
          <a:p>
            <a:pPr algn="ctr">
              <a:lnSpc>
                <a:spcPct val="100000"/>
              </a:lnSpc>
            </a:pPr>
            <a:endParaRPr lang="es-AR" sz="2800" b="0" strike="noStrike" spc="-1">
              <a:solidFill>
                <a:srgbClr val="000000"/>
              </a:solidFill>
              <a:latin typeface="Arial"/>
            </a:endParaRPr>
          </a:p>
          <a:p>
            <a:pPr algn="ctr">
              <a:lnSpc>
                <a:spcPct val="100000"/>
              </a:lnSpc>
            </a:pPr>
            <a:r>
              <a:rPr lang="es-MX" sz="2800" b="0" strike="noStrike" spc="-1">
                <a:solidFill>
                  <a:srgbClr val="000000"/>
                </a:solidFill>
                <a:latin typeface="Times New Roman"/>
                <a:ea typeface="DejaVu Sans"/>
              </a:rPr>
              <a:t>Ley 22.362 : Marcas y  Designaciones </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Derechos Intelectuales</a:t>
            </a:r>
            <a:endParaRPr lang="es-AR" sz="2800" b="0" strike="noStrike" spc="-1">
              <a:solidFill>
                <a:srgbClr val="000000"/>
              </a:solidFill>
              <a:latin typeface="Arial"/>
            </a:endParaRPr>
          </a:p>
          <a:p>
            <a:pPr algn="ctr">
              <a:lnSpc>
                <a:spcPct val="100000"/>
              </a:lnSpc>
            </a:pP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Ley 11.723 – Propiedad Intelectual                Obras científicas, literarias y artísticas</a:t>
            </a:r>
            <a:endParaRPr lang="es-AR" sz="2800" b="0" strike="noStrike" spc="-1">
              <a:solidFill>
                <a:srgbClr val="000000"/>
              </a:solidFill>
              <a:latin typeface="Arial"/>
            </a:endParaRPr>
          </a:p>
          <a:p>
            <a:pPr algn="ctr">
              <a:lnSpc>
                <a:spcPct val="100000"/>
              </a:lnSpc>
            </a:pPr>
            <a:endParaRPr lang="es-AR" sz="2800" b="0" strike="noStrike" spc="-1">
              <a:solidFill>
                <a:srgbClr val="000000"/>
              </a:solidFill>
              <a:latin typeface="Arial"/>
            </a:endParaRPr>
          </a:p>
          <a:p>
            <a:pPr algn="ctr">
              <a:lnSpc>
                <a:spcPct val="100000"/>
              </a:lnSpc>
            </a:pPr>
            <a:endParaRPr lang="es-AR" sz="2800" b="0" strike="noStrike" spc="-1">
              <a:solidFill>
                <a:srgbClr val="000000"/>
              </a:solidFill>
              <a:latin typeface="Arial"/>
            </a:endParaRPr>
          </a:p>
          <a:p>
            <a:pPr algn="ctr">
              <a:lnSpc>
                <a:spcPct val="100000"/>
              </a:lnSpc>
            </a:pP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Flecha: a la izquierda y derecha 89"/>
          <p:cNvSpPr/>
          <p:nvPr/>
        </p:nvSpPr>
        <p:spPr>
          <a:xfrm>
            <a:off x="1301760" y="4542840"/>
            <a:ext cx="359640" cy="359640"/>
          </a:xfrm>
          <a:prstGeom prst="leftRightArrow">
            <a:avLst>
              <a:gd name="adj1" fmla="val 50000"/>
              <a:gd name="adj2" fmla="val 19907"/>
            </a:avLst>
          </a:prstGeom>
          <a:solidFill>
            <a:schemeClr val="accent1"/>
          </a:solidFill>
          <a:ln w="0">
            <a:solidFill>
              <a:srgbClr val="3C8C93"/>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s-AR" sz="1800" b="0" strike="noStrike" spc="-1">
              <a:solidFill>
                <a:srgbClr val="000000"/>
              </a:solidFill>
              <a:latin typeface="Arial"/>
            </a:endParaRPr>
          </a:p>
        </p:txBody>
      </p:sp>
      <p:sp>
        <p:nvSpPr>
          <p:cNvPr id="91" name="PlaceHolder 1"/>
          <p:cNvSpPr>
            <a:spLocks noGrp="1"/>
          </p:cNvSpPr>
          <p:nvPr>
            <p:ph type="title"/>
          </p:nvPr>
        </p:nvSpPr>
        <p:spPr>
          <a:xfrm>
            <a:off x="457200" y="168120"/>
            <a:ext cx="8229240" cy="125028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Rescatemos conocimientos previos</a:t>
            </a:r>
          </a:p>
        </p:txBody>
      </p:sp>
      <p:sp>
        <p:nvSpPr>
          <p:cNvPr id="92" name="PlaceHolder 2"/>
          <p:cNvSpPr>
            <a:spLocks noGrp="1"/>
          </p:cNvSpPr>
          <p:nvPr>
            <p:ph type="subTitle"/>
          </p:nvPr>
        </p:nvSpPr>
        <p:spPr>
          <a:xfrm>
            <a:off x="284760" y="1842840"/>
            <a:ext cx="8229240" cy="3977280"/>
          </a:xfrm>
          <a:prstGeom prst="rect">
            <a:avLst/>
          </a:prstGeom>
          <a:noFill/>
          <a:ln w="0">
            <a:noFill/>
          </a:ln>
        </p:spPr>
        <p:txBody>
          <a:bodyPr lIns="0" tIns="0" rIns="0" bIns="0" anchor="ctr">
            <a:noAutofit/>
          </a:bodyPr>
          <a:lstStyle/>
          <a:p>
            <a:pPr indent="0" algn="ctr">
              <a:buNone/>
            </a:pPr>
            <a:endParaRPr lang="es-AR" sz="3200" b="0" strike="noStrike" spc="-1">
              <a:solidFill>
                <a:srgbClr val="000000"/>
              </a:solidFill>
              <a:latin typeface="Arial"/>
            </a:endParaRPr>
          </a:p>
          <a:p>
            <a:pPr indent="0" algn="ctr">
              <a:buNone/>
            </a:pPr>
            <a:r>
              <a:rPr lang="es-AR" sz="3200" b="0" strike="noStrike" spc="-1">
                <a:solidFill>
                  <a:srgbClr val="000000"/>
                </a:solidFill>
                <a:latin typeface="Arial"/>
              </a:rPr>
              <a:t>¿Se acuerdan de qué estaba compuesto el patromonio?</a:t>
            </a: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21040"/>
            <a:ext cx="8229240" cy="125028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Rescatemos conocimientos previos(CCCN)</a:t>
            </a:r>
          </a:p>
        </p:txBody>
      </p:sp>
      <p:sp>
        <p:nvSpPr>
          <p:cNvPr id="94"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s-AR" sz="3200" b="0" strike="noStrike" spc="-1">
              <a:solidFill>
                <a:srgbClr val="000000"/>
              </a:solidFill>
              <a:latin typeface="Arial"/>
            </a:endParaRPr>
          </a:p>
        </p:txBody>
      </p:sp>
      <p:sp>
        <p:nvSpPr>
          <p:cNvPr id="95" name="CuadroTexto 94"/>
          <p:cNvSpPr txBox="1"/>
          <p:nvPr/>
        </p:nvSpPr>
        <p:spPr>
          <a:xfrm>
            <a:off x="457200" y="1276560"/>
            <a:ext cx="8300520" cy="4777560"/>
          </a:xfrm>
          <a:prstGeom prst="rect">
            <a:avLst/>
          </a:prstGeom>
          <a:noFill/>
          <a:ln w="0">
            <a:noFill/>
          </a:ln>
        </p:spPr>
        <p:txBody>
          <a:bodyPr lIns="90000" tIns="45000" rIns="90000" bIns="45000" anchor="t">
            <a:noAutofit/>
          </a:bodyPr>
          <a:lstStyle/>
          <a:p>
            <a:r>
              <a:rPr lang="es-AR" sz="2200" b="0" strike="noStrike" spc="-1">
                <a:solidFill>
                  <a:srgbClr val="000000"/>
                </a:solidFill>
                <a:latin typeface="Arial"/>
              </a:rPr>
              <a:t>CAPITULO 4</a:t>
            </a:r>
          </a:p>
          <a:p>
            <a:endParaRPr lang="es-AR" sz="2200" b="0" strike="noStrike" spc="-1">
              <a:solidFill>
                <a:srgbClr val="000000"/>
              </a:solidFill>
              <a:latin typeface="Arial"/>
            </a:endParaRPr>
          </a:p>
          <a:p>
            <a:r>
              <a:rPr lang="es-AR" sz="2200" b="0" strike="noStrike" spc="-1">
                <a:solidFill>
                  <a:srgbClr val="000000"/>
                </a:solidFill>
                <a:latin typeface="Arial"/>
              </a:rPr>
              <a:t>Derechos y bienes</a:t>
            </a:r>
          </a:p>
          <a:p>
            <a:endParaRPr lang="es-AR" sz="2200" b="0" strike="noStrike" spc="-1">
              <a:solidFill>
                <a:srgbClr val="000000"/>
              </a:solidFill>
              <a:latin typeface="Arial"/>
            </a:endParaRPr>
          </a:p>
          <a:p>
            <a:r>
              <a:rPr lang="es-AR" sz="2200" b="0" strike="noStrike" spc="-1">
                <a:solidFill>
                  <a:srgbClr val="000000"/>
                </a:solidFill>
                <a:latin typeface="Arial"/>
              </a:rPr>
              <a:t>ARTICULO 15.- Titularidad de derechos. Las personas son titulares de los derechos individuales sobre los bienes que integran su patrimonio conforme con lo que se establece en este Código.</a:t>
            </a:r>
          </a:p>
          <a:p>
            <a:endParaRPr lang="es-AR" sz="2200" b="0" strike="noStrike" spc="-1">
              <a:solidFill>
                <a:srgbClr val="000000"/>
              </a:solidFill>
              <a:latin typeface="Arial"/>
            </a:endParaRPr>
          </a:p>
          <a:p>
            <a:r>
              <a:rPr lang="es-AR" sz="2200" b="0" strike="noStrike" spc="-1">
                <a:solidFill>
                  <a:srgbClr val="000000"/>
                </a:solidFill>
                <a:latin typeface="Arial"/>
              </a:rPr>
              <a:t>ARTICULO 16.- Bienes y cosas. Los derechos referidos en el primer párrafo del artículo 15 pueden recaer sobre bienes susceptibles de valor económico. Los bienes materiales se llaman cosas. Las disposiciones referentes a las cosas son aplicables a la energía y a las fuerzas </a:t>
            </a:r>
            <a:r>
              <a:rPr lang="es-AR" sz="1800" b="0" strike="noStrike" spc="-1">
                <a:solidFill>
                  <a:srgbClr val="000000"/>
                </a:solidFill>
                <a:latin typeface="Arial"/>
              </a:rPr>
              <a:t>naturales</a:t>
            </a:r>
            <a:r>
              <a:rPr lang="es-AR" sz="2200" b="0" strike="noStrike" spc="-1">
                <a:solidFill>
                  <a:srgbClr val="000000"/>
                </a:solidFill>
                <a:latin typeface="Arial"/>
              </a:rPr>
              <a:t> susceptibles de ser puestas al servicio del hombre.</a:t>
            </a: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680"/>
            <a:ext cx="8228520" cy="1141920"/>
          </a:xfrm>
          <a:prstGeom prst="rect">
            <a:avLst/>
          </a:prstGeom>
          <a:noFill/>
          <a:ln w="9360">
            <a:noFill/>
          </a:ln>
        </p:spPr>
        <p:txBody>
          <a:bodyPr lIns="90000" tIns="45000" rIns="90000" bIns="45000" numCol="1" spcCol="0" anchor="ctr">
            <a:noAutofit/>
          </a:bodyPr>
          <a:lstStyle/>
          <a:p>
            <a:pPr indent="0" algn="ctr">
              <a:lnSpc>
                <a:spcPct val="100000"/>
              </a:lnSpc>
              <a:buNone/>
              <a:tabLst>
                <a:tab pos="0" algn="l"/>
              </a:tabLst>
            </a:pPr>
            <a:r>
              <a:rPr lang="es-MX" sz="4400" b="0" strike="noStrike" spc="-1">
                <a:solidFill>
                  <a:srgbClr val="000000"/>
                </a:solidFill>
                <a:latin typeface="Arial"/>
              </a:rPr>
              <a:t>Consagración Constitucional </a:t>
            </a:r>
            <a:endParaRPr lang="es-AR" sz="4400" b="0" strike="noStrike" spc="-1">
              <a:solidFill>
                <a:srgbClr val="000000"/>
              </a:solidFill>
              <a:latin typeface="Arial"/>
            </a:endParaRPr>
          </a:p>
        </p:txBody>
      </p:sp>
      <p:sp>
        <p:nvSpPr>
          <p:cNvPr id="97" name="PlaceHolder 2"/>
          <p:cNvSpPr>
            <a:spLocks noGrp="1"/>
          </p:cNvSpPr>
          <p:nvPr>
            <p:ph/>
          </p:nvPr>
        </p:nvSpPr>
        <p:spPr>
          <a:xfrm>
            <a:off x="457200" y="1600200"/>
            <a:ext cx="8228520" cy="4524840"/>
          </a:xfrm>
          <a:prstGeom prst="rect">
            <a:avLst/>
          </a:prstGeom>
          <a:noFill/>
          <a:ln w="9360">
            <a:noFill/>
          </a:ln>
        </p:spPr>
        <p:txBody>
          <a:bodyPr lIns="90000" tIns="45000" rIns="90000" bIns="45000" numCol="1" spcCol="0" anchor="t">
            <a:noAutofit/>
          </a:bodyPr>
          <a:lstStyle/>
          <a:p>
            <a:pPr indent="0">
              <a:lnSpc>
                <a:spcPct val="100000"/>
              </a:lnSpc>
              <a:spcBef>
                <a:spcPts val="641"/>
              </a:spcBef>
              <a:buNone/>
              <a:tabLst>
                <a:tab pos="0" algn="l"/>
              </a:tabLst>
            </a:pPr>
            <a:endParaRPr lang="es-AR" sz="3200" b="0" strike="noStrike" spc="-1">
              <a:solidFill>
                <a:srgbClr val="000000"/>
              </a:solidFill>
              <a:latin typeface="Arial"/>
            </a:endParaRPr>
          </a:p>
          <a:p>
            <a:pPr indent="0">
              <a:lnSpc>
                <a:spcPct val="100000"/>
              </a:lnSpc>
              <a:spcBef>
                <a:spcPts val="641"/>
              </a:spcBef>
              <a:buNone/>
              <a:tabLst>
                <a:tab pos="0" algn="l"/>
              </a:tabLst>
            </a:pPr>
            <a:r>
              <a:rPr lang="es-MX" sz="2600" b="1" strike="noStrike" spc="-1">
                <a:solidFill>
                  <a:srgbClr val="000000"/>
                </a:solidFill>
                <a:latin typeface="Arial"/>
              </a:rPr>
              <a:t>Artículo 17</a:t>
            </a:r>
            <a:r>
              <a:rPr lang="es-MX" sz="2200" b="0" strike="noStrike" spc="-1">
                <a:solidFill>
                  <a:srgbClr val="000000"/>
                </a:solidFill>
                <a:latin typeface="Arial"/>
              </a:rPr>
              <a:t>.- La propiedad es inviolable, y ningún habitante de la Nación puede ser privado de ella, sino en virtud de sentencia fundada en ley. La expropiación por causa de utilidad pública, debe ser calificada por ley y previamente indemnizada. Sólo el Congreso impone las contribuciones que se expresan en el Artículo 4º. Ningún servicio personal es exigible, sino en virtud de ley o de sentencia fundada en ley. </a:t>
            </a:r>
            <a:r>
              <a:rPr lang="es-MX" sz="2200" b="1" u="sng" strike="noStrike" spc="-1">
                <a:solidFill>
                  <a:srgbClr val="A7074B"/>
                </a:solidFill>
                <a:uFillTx/>
                <a:latin typeface="Arial"/>
              </a:rPr>
              <a:t>Todo autor o inventor es propietario exclusivo de su obra, invento o descubrimiento, por el término que le acuerde la ley.</a:t>
            </a:r>
            <a:r>
              <a:rPr lang="es-MX" sz="2200" b="0" strike="noStrike" spc="-1">
                <a:solidFill>
                  <a:srgbClr val="000000"/>
                </a:solidFill>
                <a:latin typeface="Arial"/>
              </a:rPr>
              <a:t> La confiscación de bienes queda borrada para siempre del Código Penal argentino. Ningún cuerpo armado puede hacer requisiciones, ni exigir auxilios de ninguna especie</a:t>
            </a:r>
            <a:r>
              <a:rPr lang="es-MX" sz="3200" b="0" strike="noStrike" spc="-1">
                <a:solidFill>
                  <a:srgbClr val="000000"/>
                </a:solidFill>
                <a:latin typeface="Arial"/>
              </a:rPr>
              <a:t>.</a:t>
            </a:r>
            <a:endParaRPr lang="es-AR" sz="3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Picture 3" descr="CUADRO RESUMEN"/>
          <p:cNvPicPr/>
          <p:nvPr/>
        </p:nvPicPr>
        <p:blipFill>
          <a:blip r:embed="rId3"/>
          <a:stretch/>
        </p:blipFill>
        <p:spPr>
          <a:xfrm>
            <a:off x="225000" y="1256760"/>
            <a:ext cx="8635320" cy="5450400"/>
          </a:xfrm>
          <a:prstGeom prst="rect">
            <a:avLst/>
          </a:prstGeom>
          <a:ln w="9525">
            <a:noFill/>
          </a:ln>
        </p:spPr>
      </p:pic>
      <p:sp>
        <p:nvSpPr>
          <p:cNvPr id="99" name="PlaceHolder 1"/>
          <p:cNvSpPr>
            <a:spLocks noGrp="1"/>
          </p:cNvSpPr>
          <p:nvPr>
            <p:ph type="title"/>
          </p:nvPr>
        </p:nvSpPr>
        <p:spPr>
          <a:xfrm>
            <a:off x="457200" y="221040"/>
            <a:ext cx="8229240" cy="125028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Propiedad Industrial e Intelectual(panorama general)</a:t>
            </a: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Box 2"/>
          <p:cNvSpPr/>
          <p:nvPr/>
        </p:nvSpPr>
        <p:spPr>
          <a:xfrm>
            <a:off x="802800" y="230040"/>
            <a:ext cx="8211240" cy="533052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s-ES" sz="2800" b="1" u="sng" strike="noStrike" spc="-1">
                <a:solidFill>
                  <a:srgbClr val="000000"/>
                </a:solidFill>
                <a:uFillTx/>
                <a:latin typeface="Times New Roman"/>
                <a:ea typeface="DejaVu Sans"/>
              </a:rPr>
              <a:t>Propiedad Intelectual</a:t>
            </a:r>
            <a:endParaRPr lang="es-AR" sz="2800" b="0" strike="noStrike" spc="-1">
              <a:solidFill>
                <a:srgbClr val="000000"/>
              </a:solidFill>
              <a:latin typeface="Arial"/>
            </a:endParaRPr>
          </a:p>
          <a:p>
            <a:pPr algn="ctr">
              <a:lnSpc>
                <a:spcPct val="100000"/>
              </a:lnSpc>
            </a:pPr>
            <a:r>
              <a:rPr lang="es-ES" sz="800" b="0" strike="noStrike" spc="-1">
                <a:solidFill>
                  <a:srgbClr val="000000"/>
                </a:solidFill>
                <a:latin typeface="Times New Roman"/>
                <a:ea typeface="DejaVu Sans"/>
              </a:rPr>
              <a:t>___________________________________________________________________________________________________________________________________________________________</a:t>
            </a:r>
            <a:endParaRPr lang="es-AR" sz="800" b="0" strike="noStrike" spc="-1">
              <a:solidFill>
                <a:srgbClr val="000000"/>
              </a:solidFill>
              <a:latin typeface="Arial"/>
            </a:endParaRPr>
          </a:p>
          <a:p>
            <a:pPr algn="ctr">
              <a:lnSpc>
                <a:spcPct val="100000"/>
              </a:lnSpc>
            </a:pPr>
            <a:r>
              <a:rPr lang="es-ES" sz="2800" b="0" u="sng" strike="noStrike" spc="-1">
                <a:solidFill>
                  <a:srgbClr val="000000"/>
                </a:solidFill>
                <a:uFillTx/>
                <a:latin typeface="Times New Roman"/>
                <a:ea typeface="DejaVu Sans"/>
              </a:rPr>
              <a:t>*Soporte normativo Ley 11.723</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Objeto de la norma</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Derecho de propiedad</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Facultad de disponer para su autor</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Titularidad del derecho</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Tiempo de ejercicio del derecho</a:t>
            </a:r>
            <a:endParaRPr lang="es-AR" sz="2800" b="0" strike="noStrike" spc="-1">
              <a:solidFill>
                <a:srgbClr val="000000"/>
              </a:solidFill>
              <a:latin typeface="Arial"/>
            </a:endParaRPr>
          </a:p>
          <a:p>
            <a:pPr algn="ctr">
              <a:lnSpc>
                <a:spcPct val="100000"/>
              </a:lnSpc>
            </a:pPr>
            <a:r>
              <a:rPr lang="es-ES" sz="2800" b="0" u="sng" strike="noStrike" spc="-1">
                <a:solidFill>
                  <a:srgbClr val="000000"/>
                </a:solidFill>
                <a:uFillTx/>
                <a:latin typeface="Times New Roman"/>
                <a:ea typeface="DejaVu Sans"/>
              </a:rPr>
              <a:t>*Soporte normativo Ley 25.036 (modif.11.723)</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Incorporación de programas fuente y objeto</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Titulares del derecho para casos particulares</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Programas de computación con licencias de uso</a:t>
            </a:r>
            <a:endParaRPr lang="es-AR" sz="2800" b="0" strike="noStrike" spc="-1">
              <a:solidFill>
                <a:srgbClr val="000000"/>
              </a:solidFill>
              <a:latin typeface="Arial"/>
            </a:endParaRPr>
          </a:p>
          <a:p>
            <a:pPr algn="ctr">
              <a:lnSpc>
                <a:spcPct val="100000"/>
              </a:lnSpc>
            </a:pPr>
            <a:r>
              <a:rPr lang="es-ES" sz="2800" b="0" strike="noStrike" spc="-1">
                <a:solidFill>
                  <a:srgbClr val="000000"/>
                </a:solidFill>
                <a:latin typeface="Times New Roman"/>
                <a:ea typeface="DejaVu Sans"/>
              </a:rPr>
              <a:t>Contratos de licencias para uso y reproducción</a:t>
            </a: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Box 2"/>
          <p:cNvSpPr/>
          <p:nvPr/>
        </p:nvSpPr>
        <p:spPr>
          <a:xfrm>
            <a:off x="535680" y="342720"/>
            <a:ext cx="8352360" cy="5421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400" b="1" u="sng" strike="noStrike" spc="-1">
                <a:solidFill>
                  <a:srgbClr val="000000"/>
                </a:solidFill>
                <a:uFillTx/>
                <a:latin typeface="Times New Roman"/>
                <a:ea typeface="DejaVu Sans"/>
              </a:rPr>
              <a:t>Art 1º</a:t>
            </a:r>
            <a:endParaRPr lang="es-AR" sz="2400" b="0" strike="noStrike" spc="-1">
              <a:solidFill>
                <a:srgbClr val="000000"/>
              </a:solidFill>
              <a:latin typeface="Arial"/>
            </a:endParaRPr>
          </a:p>
          <a:p>
            <a:pPr>
              <a:lnSpc>
                <a:spcPct val="100000"/>
              </a:lnSpc>
            </a:pPr>
            <a:r>
              <a:rPr lang="es-ES" sz="1800" b="0" i="1" strike="noStrike" spc="-1">
                <a:solidFill>
                  <a:srgbClr val="000000"/>
                </a:solidFill>
                <a:latin typeface="Times New Roman"/>
                <a:ea typeface="DejaVu Sans"/>
              </a:rPr>
              <a:t>(Artículo sustituido por art. 1° de la Ley N° 25.036 B.O. 11/11/1998)</a:t>
            </a:r>
            <a:endParaRPr lang="es-AR" sz="1800" b="0" strike="noStrike" spc="-1">
              <a:solidFill>
                <a:srgbClr val="000000"/>
              </a:solidFill>
              <a:latin typeface="Arial"/>
            </a:endParaRPr>
          </a:p>
          <a:p>
            <a:pPr>
              <a:lnSpc>
                <a:spcPct val="100000"/>
              </a:lnSpc>
            </a:pPr>
            <a:r>
              <a:rPr lang="es-ES" sz="2200" b="0" strike="noStrike" spc="-1">
                <a:solidFill>
                  <a:srgbClr val="000000"/>
                </a:solidFill>
                <a:latin typeface="Times New Roman"/>
                <a:ea typeface="DejaVu Sans"/>
              </a:rPr>
              <a:t>En esta Ley, </a:t>
            </a:r>
            <a:r>
              <a:rPr lang="es-ES" sz="2200" b="0" u="sng" strike="noStrike" spc="-1">
                <a:solidFill>
                  <a:srgbClr val="000000"/>
                </a:solidFill>
                <a:uFillTx/>
                <a:latin typeface="Times New Roman"/>
                <a:ea typeface="DejaVu Sans"/>
              </a:rPr>
              <a:t>las obras científicas, literarias y artísticas comprenden:</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u="sng" strike="noStrike" spc="-1">
                <a:solidFill>
                  <a:srgbClr val="000000"/>
                </a:solidFill>
                <a:uFillTx/>
                <a:latin typeface="Times New Roman"/>
                <a:ea typeface="DejaVu Sans"/>
              </a:rPr>
              <a:t>escritos de toda naturaleza y extensión, programas de computación fuente y objeto; compilaciones de datos o de otros materiales;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obras dramáticas y/o musicales,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cinematográficas, coreográficas y pantomímicas;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obras de dibujo, pintura, escultura, arquitectura;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u="sng" strike="noStrike" spc="-1">
                <a:solidFill>
                  <a:srgbClr val="000000"/>
                </a:solidFill>
                <a:uFillTx/>
                <a:latin typeface="Times New Roman"/>
                <a:ea typeface="DejaVu Sans"/>
              </a:rPr>
              <a:t>modelos y obras de arte o ciencia aplicadas al comercio o a la industria;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u="sng" strike="noStrike" spc="-1">
                <a:solidFill>
                  <a:srgbClr val="000000"/>
                </a:solidFill>
                <a:uFillTx/>
                <a:latin typeface="Times New Roman"/>
                <a:ea typeface="DejaVu Sans"/>
              </a:rPr>
              <a:t>impresos, planos y mapas</a:t>
            </a:r>
            <a:r>
              <a:rPr lang="es-ES" sz="2200" b="0" strike="noStrike" spc="-1">
                <a:solidFill>
                  <a:srgbClr val="000000"/>
                </a:solidFill>
                <a:latin typeface="Times New Roman"/>
                <a:ea typeface="DejaVu Sans"/>
              </a:rPr>
              <a:t>;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los plásticos, fotografías, grabados y fonogramas.</a:t>
            </a:r>
            <a:endParaRPr lang="es-AR" sz="2200" b="0" strike="noStrike" spc="-1">
              <a:solidFill>
                <a:srgbClr val="000000"/>
              </a:solidFill>
              <a:latin typeface="Arial"/>
            </a:endParaRPr>
          </a:p>
          <a:p>
            <a:pPr>
              <a:lnSpc>
                <a:spcPct val="100000"/>
              </a:lnSpc>
            </a:pPr>
            <a:endParaRPr lang="es-AR" sz="2200" b="0" strike="noStrike" spc="-1">
              <a:solidFill>
                <a:srgbClr val="000000"/>
              </a:solidFill>
              <a:latin typeface="Arial"/>
            </a:endParaRPr>
          </a:p>
          <a:p>
            <a:pPr>
              <a:lnSpc>
                <a:spcPct val="100000"/>
              </a:lnSpc>
            </a:pPr>
            <a:r>
              <a:rPr lang="es-ES" sz="2200" b="0" strike="noStrike" spc="-1">
                <a:solidFill>
                  <a:srgbClr val="000000"/>
                </a:solidFill>
                <a:latin typeface="Times New Roman"/>
                <a:ea typeface="DejaVu Sans"/>
              </a:rPr>
              <a:t>* En general:</a:t>
            </a:r>
            <a:endParaRPr lang="es-AR" sz="2200" b="0" strike="noStrike" spc="-1">
              <a:solidFill>
                <a:srgbClr val="000000"/>
              </a:solidFill>
              <a:latin typeface="Arial"/>
            </a:endParaRPr>
          </a:p>
          <a:p>
            <a:pPr>
              <a:lnSpc>
                <a:spcPct val="100000"/>
              </a:lnSpc>
            </a:pPr>
            <a:r>
              <a:rPr lang="es-ES" sz="2200" b="0" strike="noStrike" spc="-1">
                <a:solidFill>
                  <a:srgbClr val="000000"/>
                </a:solidFill>
                <a:latin typeface="Times New Roman"/>
                <a:ea typeface="DejaVu Sans"/>
              </a:rPr>
              <a:t>“</a:t>
            </a:r>
            <a:r>
              <a:rPr lang="es-ES" sz="2200" b="0" u="sng" strike="noStrike" spc="-1">
                <a:solidFill>
                  <a:srgbClr val="000000"/>
                </a:solidFill>
                <a:uFillTx/>
                <a:latin typeface="Times New Roman"/>
                <a:ea typeface="DejaVu Sans"/>
              </a:rPr>
              <a:t>toda producción científica, literaria, artística o didáctica sea cual fuere el procedimiento de reproducción</a:t>
            </a:r>
            <a:r>
              <a:rPr lang="es-ES" sz="2200" b="0" strike="noStrike" spc="-1">
                <a:solidFill>
                  <a:srgbClr val="000000"/>
                </a:solidFill>
                <a:latin typeface="Times New Roman"/>
                <a:ea typeface="DejaVu Sans"/>
              </a:rPr>
              <a:t>”.</a:t>
            </a:r>
            <a:endParaRPr lang="es-AR" sz="2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 Box 2"/>
          <p:cNvSpPr/>
          <p:nvPr/>
        </p:nvSpPr>
        <p:spPr>
          <a:xfrm>
            <a:off x="611280" y="260280"/>
            <a:ext cx="8063280" cy="525600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100" b="0" strike="noStrike" spc="-1">
                <a:solidFill>
                  <a:srgbClr val="000000"/>
                </a:solidFill>
                <a:latin typeface="Times New Roman"/>
                <a:ea typeface="DejaVu Sans"/>
              </a:rPr>
              <a:t>* La protección abarca la expresión de:</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strike="noStrike" spc="-1">
                <a:solidFill>
                  <a:srgbClr val="000000"/>
                </a:solidFill>
                <a:latin typeface="Times New Roman"/>
                <a:ea typeface="DejaVu Sans"/>
              </a:rPr>
              <a:t>ideas</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strike="noStrike" spc="-1">
                <a:solidFill>
                  <a:srgbClr val="000000"/>
                </a:solidFill>
                <a:latin typeface="Times New Roman"/>
                <a:ea typeface="DejaVu Sans"/>
              </a:rPr>
              <a:t>procedimientos</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strike="noStrike" spc="-1">
                <a:solidFill>
                  <a:srgbClr val="000000"/>
                </a:solidFill>
                <a:latin typeface="Times New Roman"/>
                <a:ea typeface="DejaVu Sans"/>
              </a:rPr>
              <a:t>métodos de operación </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strike="noStrike" spc="-1">
                <a:solidFill>
                  <a:srgbClr val="000000"/>
                </a:solidFill>
                <a:latin typeface="Times New Roman"/>
                <a:ea typeface="DejaVu Sans"/>
              </a:rPr>
              <a:t>conceptos matemáticos </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strike="noStrike" spc="-1">
                <a:solidFill>
                  <a:srgbClr val="000000"/>
                </a:solidFill>
                <a:latin typeface="Times New Roman"/>
                <a:ea typeface="DejaVu Sans"/>
              </a:rPr>
              <a:t>pero no esas ideas, procedimientos, métodos y conceptos en sí.</a:t>
            </a:r>
            <a:endParaRPr lang="es-AR" sz="21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a:t>
            </a:r>
            <a:r>
              <a:rPr lang="es-ES" sz="2400" b="1" u="sng" strike="noStrike" spc="-1">
                <a:solidFill>
                  <a:srgbClr val="000000"/>
                </a:solidFill>
                <a:uFillTx/>
                <a:latin typeface="Times New Roman"/>
                <a:ea typeface="DejaVu Sans"/>
              </a:rPr>
              <a:t>Art. 2°.</a:t>
            </a:r>
            <a:r>
              <a:rPr lang="es-ES" sz="2100" b="0" u="sng" strike="noStrike" spc="-1">
                <a:solidFill>
                  <a:srgbClr val="000000"/>
                </a:solidFill>
                <a:uFillTx/>
                <a:latin typeface="Times New Roman"/>
                <a:ea typeface="DejaVu Sans"/>
              </a:rPr>
              <a:t> </a:t>
            </a:r>
            <a:r>
              <a:rPr lang="es-ES" sz="2100" b="0" strike="noStrike" spc="-1">
                <a:solidFill>
                  <a:srgbClr val="000000"/>
                </a:solidFill>
                <a:latin typeface="Times New Roman"/>
                <a:ea typeface="DejaVu Sans"/>
              </a:rPr>
              <a:t>– </a:t>
            </a:r>
            <a:r>
              <a:rPr lang="es-ES" sz="2100" b="0" u="sng" strike="noStrike" spc="-1">
                <a:solidFill>
                  <a:srgbClr val="000000"/>
                </a:solidFill>
                <a:uFillTx/>
                <a:latin typeface="Times New Roman"/>
                <a:ea typeface="DejaVu Sans"/>
              </a:rPr>
              <a:t>El derecho de propiedad comprende, para el autor, las facultades de: </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u="sng" strike="noStrike" spc="-1">
                <a:solidFill>
                  <a:srgbClr val="000000"/>
                </a:solidFill>
                <a:uFillTx/>
                <a:latin typeface="Times New Roman"/>
                <a:ea typeface="DejaVu Sans"/>
              </a:rPr>
              <a:t>disponer de ella</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u="sng" strike="noStrike" spc="-1">
                <a:solidFill>
                  <a:srgbClr val="000000"/>
                </a:solidFill>
                <a:uFillTx/>
                <a:latin typeface="Times New Roman"/>
                <a:ea typeface="DejaVu Sans"/>
              </a:rPr>
              <a:t>publicarla</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strike="noStrike" spc="-1">
                <a:solidFill>
                  <a:srgbClr val="000000"/>
                </a:solidFill>
                <a:latin typeface="Times New Roman"/>
                <a:ea typeface="DejaVu Sans"/>
              </a:rPr>
              <a:t>ejecutarla  </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strike="noStrike" spc="-1">
                <a:solidFill>
                  <a:srgbClr val="000000"/>
                </a:solidFill>
                <a:latin typeface="Times New Roman"/>
                <a:ea typeface="DejaVu Sans"/>
              </a:rPr>
              <a:t>representarla</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u="sng" strike="noStrike" spc="-1">
                <a:solidFill>
                  <a:srgbClr val="000000"/>
                </a:solidFill>
                <a:uFillTx/>
                <a:latin typeface="Times New Roman"/>
                <a:ea typeface="DejaVu Sans"/>
              </a:rPr>
              <a:t>exponerla en público</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u="sng" strike="noStrike" spc="-1">
                <a:solidFill>
                  <a:srgbClr val="000000"/>
                </a:solidFill>
                <a:uFillTx/>
                <a:latin typeface="Times New Roman"/>
                <a:ea typeface="DejaVu Sans"/>
              </a:rPr>
              <a:t>enajenarla</a:t>
            </a:r>
            <a:r>
              <a:rPr lang="es-ES" sz="2100" b="0" strike="noStrike" spc="-1">
                <a:solidFill>
                  <a:srgbClr val="000000"/>
                </a:solidFill>
                <a:latin typeface="Times New Roman"/>
                <a:ea typeface="DejaVu Sans"/>
              </a:rPr>
              <a:t> </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u="sng" strike="noStrike" spc="-1">
                <a:solidFill>
                  <a:srgbClr val="000000"/>
                </a:solidFill>
                <a:uFillTx/>
                <a:latin typeface="Times New Roman"/>
                <a:ea typeface="DejaVu Sans"/>
              </a:rPr>
              <a:t>traducirla, adaptarla o de autorizar su traducción </a:t>
            </a:r>
            <a:endParaRPr lang="es-AR" sz="2100" b="0" strike="noStrike" spc="-1">
              <a:solidFill>
                <a:srgbClr val="000000"/>
              </a:solidFill>
              <a:latin typeface="Arial"/>
            </a:endParaRPr>
          </a:p>
          <a:p>
            <a:pPr marL="216000" indent="-216000">
              <a:lnSpc>
                <a:spcPct val="100000"/>
              </a:lnSpc>
              <a:buClr>
                <a:srgbClr val="000000"/>
              </a:buClr>
              <a:buFont typeface="Wingdings" charset="2"/>
              <a:buChar char=""/>
            </a:pPr>
            <a:r>
              <a:rPr lang="es-ES" sz="2100" b="0" u="sng" strike="noStrike" spc="-1">
                <a:solidFill>
                  <a:srgbClr val="000000"/>
                </a:solidFill>
                <a:uFillTx/>
                <a:latin typeface="Times New Roman"/>
                <a:ea typeface="DejaVu Sans"/>
              </a:rPr>
              <a:t>reproducirla en cualquier forma</a:t>
            </a:r>
            <a:endParaRPr lang="es-AR" sz="21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 Box 2"/>
          <p:cNvSpPr/>
          <p:nvPr/>
        </p:nvSpPr>
        <p:spPr>
          <a:xfrm>
            <a:off x="190800" y="532439"/>
            <a:ext cx="6159200" cy="7200518"/>
          </a:xfrm>
          <a:prstGeom prst="rect">
            <a:avLst/>
          </a:prstGeom>
          <a:noFill/>
          <a:ln w="9525">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s-ES" sz="2200" b="1" strike="noStrike" spc="-1">
                <a:solidFill>
                  <a:srgbClr val="000000"/>
                </a:solidFill>
                <a:latin typeface="Times New Roman"/>
                <a:ea typeface="DejaVu Sans"/>
              </a:rPr>
              <a:t>Art. 3°.</a:t>
            </a:r>
            <a:r>
              <a:rPr lang="es-ES" sz="2200" b="0" strike="noStrike" spc="-1">
                <a:solidFill>
                  <a:srgbClr val="000000"/>
                </a:solidFill>
                <a:latin typeface="Times New Roman"/>
                <a:ea typeface="DejaVu Sans"/>
              </a:rPr>
              <a:t> – De las obras anónimas o seudónimas</a:t>
            </a:r>
            <a:endParaRPr lang="es-AR" sz="2200" b="0" strike="noStrike" spc="-1">
              <a:solidFill>
                <a:srgbClr val="000000"/>
              </a:solidFill>
              <a:latin typeface="Arial"/>
            </a:endParaRPr>
          </a:p>
          <a:p>
            <a:pPr>
              <a:lnSpc>
                <a:spcPct val="100000"/>
              </a:lnSpc>
            </a:pPr>
            <a:r>
              <a:rPr lang="es-ES" sz="2200" b="0" strike="noStrike" spc="-1">
                <a:solidFill>
                  <a:srgbClr val="000000"/>
                </a:solidFill>
                <a:latin typeface="Times New Roman"/>
                <a:ea typeface="DejaVu Sans"/>
              </a:rPr>
              <a:t>Editor: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Derechos y las obligaciones del autor</a:t>
            </a:r>
            <a:endParaRPr lang="es-AR" sz="2200" b="0" strike="noStrike" spc="-1">
              <a:solidFill>
                <a:srgbClr val="000000"/>
              </a:solidFill>
              <a:latin typeface="Arial"/>
            </a:endParaRPr>
          </a:p>
          <a:p>
            <a:pPr>
              <a:lnSpc>
                <a:spcPct val="100000"/>
              </a:lnSpc>
            </a:pPr>
            <a:r>
              <a:rPr lang="es-ES" sz="2200" b="0" strike="noStrike" spc="-1">
                <a:solidFill>
                  <a:srgbClr val="000000"/>
                </a:solidFill>
                <a:latin typeface="Times New Roman"/>
                <a:ea typeface="DejaVu Sans"/>
              </a:rPr>
              <a:t>Autores que emplean seudónimos: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Pueden registrarlos adquiriendo la propiedad de los mismos.</a:t>
            </a:r>
            <a:endParaRPr lang="es-AR" sz="2200" b="0" strike="noStrike" spc="-1">
              <a:solidFill>
                <a:srgbClr val="000000"/>
              </a:solidFill>
              <a:latin typeface="Arial"/>
            </a:endParaRPr>
          </a:p>
          <a:p>
            <a:pPr>
              <a:lnSpc>
                <a:spcPct val="100000"/>
              </a:lnSpc>
            </a:pPr>
            <a:endParaRPr lang="es-AR" sz="2200" b="0" strike="noStrike" spc="-1">
              <a:solidFill>
                <a:srgbClr val="000000"/>
              </a:solidFill>
              <a:latin typeface="Arial"/>
            </a:endParaRPr>
          </a:p>
          <a:p>
            <a:pPr>
              <a:lnSpc>
                <a:spcPct val="100000"/>
              </a:lnSpc>
            </a:pPr>
            <a:r>
              <a:rPr lang="es-ES" sz="2200" b="1" u="sng" strike="noStrike" spc="-1">
                <a:solidFill>
                  <a:srgbClr val="000000"/>
                </a:solidFill>
                <a:uFillTx/>
                <a:latin typeface="Times New Roman"/>
                <a:ea typeface="DejaVu Sans"/>
              </a:rPr>
              <a:t>Art. 4°.</a:t>
            </a:r>
            <a:r>
              <a:rPr lang="es-ES" sz="2200" b="0" u="sng" strike="noStrike" spc="-1">
                <a:solidFill>
                  <a:srgbClr val="000000"/>
                </a:solidFill>
                <a:uFillTx/>
                <a:latin typeface="Times New Roman"/>
                <a:ea typeface="DejaVu Sans"/>
              </a:rPr>
              <a:t> - Titulares del derecho de propiedad intelectual:</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u="sng" strike="noStrike" spc="-1">
                <a:solidFill>
                  <a:srgbClr val="000000"/>
                </a:solidFill>
                <a:uFillTx/>
                <a:latin typeface="Times New Roman"/>
                <a:ea typeface="DejaVu Sans"/>
              </a:rPr>
              <a:t>Autor</a:t>
            </a:r>
            <a:r>
              <a:rPr lang="es-ES" sz="2200" b="0" strike="noStrike" spc="-1">
                <a:solidFill>
                  <a:srgbClr val="000000"/>
                </a:solidFill>
                <a:latin typeface="Times New Roman"/>
                <a:ea typeface="DejaVu Sans"/>
              </a:rPr>
              <a:t> de la obra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u="sng" strike="noStrike" spc="-1">
                <a:solidFill>
                  <a:srgbClr val="000000"/>
                </a:solidFill>
                <a:uFillTx/>
                <a:latin typeface="Times New Roman"/>
                <a:ea typeface="DejaVu Sans"/>
              </a:rPr>
              <a:t>Herederos o derechohabientes</a:t>
            </a:r>
            <a:r>
              <a:rPr lang="es-ES" sz="2200" b="0" strike="noStrike" spc="-1">
                <a:solidFill>
                  <a:srgbClr val="000000"/>
                </a:solidFill>
                <a:latin typeface="Times New Roman"/>
                <a:ea typeface="DejaVu Sans"/>
              </a:rPr>
              <a:t> </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u="sng" strike="noStrike" spc="-1">
                <a:solidFill>
                  <a:srgbClr val="000000"/>
                </a:solidFill>
                <a:uFillTx/>
                <a:latin typeface="Times New Roman"/>
                <a:ea typeface="DejaVu Sans"/>
              </a:rPr>
              <a:t>Quienes con permiso del autor la traducen,</a:t>
            </a:r>
            <a:r>
              <a:rPr lang="es-ES" sz="2200" b="0" strike="noStrike" spc="-1">
                <a:solidFill>
                  <a:srgbClr val="000000"/>
                </a:solidFill>
                <a:latin typeface="Times New Roman"/>
                <a:ea typeface="DejaVu Sans"/>
              </a:rPr>
              <a:t> refunden, adaptan, </a:t>
            </a:r>
            <a:r>
              <a:rPr lang="es-ES" sz="2200" b="0" u="sng" strike="noStrike" spc="-1">
                <a:solidFill>
                  <a:srgbClr val="000000"/>
                </a:solidFill>
                <a:uFillTx/>
                <a:latin typeface="Times New Roman"/>
                <a:ea typeface="DejaVu Sans"/>
              </a:rPr>
              <a:t>modifican</a:t>
            </a:r>
            <a:r>
              <a:rPr lang="es-ES" sz="2200" b="0" strike="noStrike" spc="-1">
                <a:solidFill>
                  <a:srgbClr val="000000"/>
                </a:solidFill>
                <a:latin typeface="Times New Roman"/>
                <a:ea typeface="DejaVu Sans"/>
              </a:rPr>
              <a:t> o transportan </a:t>
            </a:r>
            <a:r>
              <a:rPr lang="es-ES" sz="2200" b="0" u="sng" strike="noStrike" spc="-1">
                <a:solidFill>
                  <a:srgbClr val="000000"/>
                </a:solidFill>
                <a:uFillTx/>
                <a:latin typeface="Times New Roman"/>
                <a:ea typeface="DejaVu Sans"/>
              </a:rPr>
              <a:t>sobre la nueva obra intelectual r</a:t>
            </a:r>
            <a:r>
              <a:rPr lang="es-ES" sz="2200" b="0" strike="noStrike" spc="-1">
                <a:solidFill>
                  <a:srgbClr val="000000"/>
                </a:solidFill>
                <a:latin typeface="Times New Roman"/>
                <a:ea typeface="DejaVu Sans"/>
              </a:rPr>
              <a:t>esultante</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u="sng" strike="noStrike" spc="-1">
                <a:solidFill>
                  <a:srgbClr val="000000"/>
                </a:solidFill>
                <a:uFillTx/>
                <a:latin typeface="Times New Roman"/>
                <a:ea typeface="DejaVu Sans"/>
              </a:rPr>
              <a:t>Las personas físicas o jurídicas cuyos dependientes contratados para elaborar un programa de computación hubiesen producido un programa de computación</a:t>
            </a:r>
            <a:r>
              <a:rPr lang="es-ES" sz="2200" b="0" strike="noStrike" spc="-1">
                <a:solidFill>
                  <a:srgbClr val="000000"/>
                </a:solidFill>
                <a:latin typeface="Times New Roman"/>
                <a:ea typeface="DejaVu Sans"/>
              </a:rPr>
              <a:t> en el desempeño de sus funciones laborales,</a:t>
            </a:r>
            <a:r>
              <a:rPr lang="es-ES" sz="2200" b="0" u="sng" strike="noStrike" spc="-1">
                <a:solidFill>
                  <a:srgbClr val="000000"/>
                </a:solidFill>
                <a:uFillTx/>
                <a:latin typeface="Times New Roman"/>
                <a:ea typeface="DejaVu Sans"/>
              </a:rPr>
              <a:t> salvo estipulación en contrario</a:t>
            </a:r>
            <a:r>
              <a:rPr lang="es-ES" sz="2200" b="0" strike="noStrike" spc="-1">
                <a:solidFill>
                  <a:srgbClr val="000000"/>
                </a:solidFill>
                <a:latin typeface="Times New Roman"/>
                <a:ea typeface="DejaVu Sans"/>
              </a:rPr>
              <a:t>. </a:t>
            </a:r>
            <a:r>
              <a:rPr lang="es-ES" sz="2200" b="0" i="1" strike="noStrike" spc="-1">
                <a:solidFill>
                  <a:srgbClr val="000000"/>
                </a:solidFill>
                <a:latin typeface="Times New Roman"/>
                <a:ea typeface="DejaVu Sans"/>
              </a:rPr>
              <a:t> (Inciso d) incorporado por art. 2° de la Ley N° 25.036 B.O. 11/11/1998)</a:t>
            </a:r>
            <a:endParaRPr lang="es-AR" sz="2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 Box 2"/>
          <p:cNvSpPr/>
          <p:nvPr/>
        </p:nvSpPr>
        <p:spPr>
          <a:xfrm>
            <a:off x="576720" y="941807"/>
            <a:ext cx="7990560" cy="5343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300" b="1" strike="noStrike" spc="-1">
                <a:solidFill>
                  <a:srgbClr val="000000"/>
                </a:solidFill>
                <a:latin typeface="Times New Roman"/>
                <a:ea typeface="DejaVu Sans"/>
              </a:rPr>
              <a:t>* Art. 5°.</a:t>
            </a:r>
            <a:r>
              <a:rPr lang="es-ES" sz="2300" b="0" strike="noStrike" spc="-1">
                <a:solidFill>
                  <a:srgbClr val="000000"/>
                </a:solidFill>
                <a:latin typeface="Times New Roman"/>
                <a:ea typeface="DejaVu Sans"/>
              </a:rPr>
              <a:t> –</a:t>
            </a:r>
            <a:r>
              <a:rPr lang="es-ES" sz="2300" b="0" u="sng" strike="noStrike" spc="-1">
                <a:solidFill>
                  <a:srgbClr val="000000"/>
                </a:solidFill>
                <a:uFillTx/>
                <a:latin typeface="Times New Roman"/>
                <a:ea typeface="DejaVu Sans"/>
              </a:rPr>
              <a:t>  Validez de la propiedad intelectual</a:t>
            </a:r>
            <a:endParaRPr lang="es-AR" sz="2300" b="0" strike="noStrike" spc="-1">
              <a:solidFill>
                <a:srgbClr val="000000"/>
              </a:solidFill>
              <a:latin typeface="Arial"/>
            </a:endParaRPr>
          </a:p>
          <a:p>
            <a:pPr marL="216000" indent="-216000">
              <a:lnSpc>
                <a:spcPct val="100000"/>
              </a:lnSpc>
              <a:buClr>
                <a:srgbClr val="000000"/>
              </a:buClr>
              <a:buFont typeface="Wingdings" charset="2"/>
              <a:buChar char=""/>
            </a:pPr>
            <a:r>
              <a:rPr lang="es-ES" sz="2300" b="0" u="sng" strike="noStrike" spc="-1">
                <a:solidFill>
                  <a:srgbClr val="000000"/>
                </a:solidFill>
                <a:uFillTx/>
                <a:latin typeface="Times New Roman"/>
                <a:ea typeface="DejaVu Sans"/>
              </a:rPr>
              <a:t>Autores: durante su vida</a:t>
            </a:r>
            <a:endParaRPr lang="es-AR" sz="2300" b="0" strike="noStrike" spc="-1">
              <a:solidFill>
                <a:srgbClr val="000000"/>
              </a:solidFill>
              <a:latin typeface="Arial"/>
            </a:endParaRPr>
          </a:p>
          <a:p>
            <a:pPr marL="216000" indent="-216000">
              <a:lnSpc>
                <a:spcPct val="100000"/>
              </a:lnSpc>
              <a:buClr>
                <a:srgbClr val="000000"/>
              </a:buClr>
              <a:buFont typeface="Wingdings" charset="2"/>
              <a:buChar char=""/>
            </a:pPr>
            <a:r>
              <a:rPr lang="es-ES" sz="2300" b="0" u="sng" strike="noStrike" spc="-1">
                <a:solidFill>
                  <a:srgbClr val="000000"/>
                </a:solidFill>
                <a:uFillTx/>
                <a:latin typeface="Times New Roman"/>
                <a:ea typeface="DejaVu Sans"/>
              </a:rPr>
              <a:t>Herederos o derechohabientes: hasta setenta años contados a partir del 1 de Enero del año siguiente al de la muerte del autor</a:t>
            </a:r>
            <a:endParaRPr lang="es-AR" sz="2300" b="0" strike="noStrike" spc="-1">
              <a:solidFill>
                <a:srgbClr val="000000"/>
              </a:solidFill>
              <a:latin typeface="Arial"/>
            </a:endParaRPr>
          </a:p>
          <a:p>
            <a:pPr marL="216000" indent="-216000">
              <a:lnSpc>
                <a:spcPct val="100000"/>
              </a:lnSpc>
              <a:buClr>
                <a:srgbClr val="000000"/>
              </a:buClr>
              <a:buFont typeface="Wingdings" charset="2"/>
              <a:buChar char=""/>
            </a:pPr>
            <a:r>
              <a:rPr lang="es-ES" sz="2300" b="0" strike="noStrike" spc="-1">
                <a:solidFill>
                  <a:srgbClr val="000000"/>
                </a:solidFill>
                <a:latin typeface="Times New Roman"/>
                <a:ea typeface="DejaVu Sans"/>
              </a:rPr>
              <a:t>Obras en colaboración: el término comenzará a contarse desde el 1 de Enero del año siguiente al de la muerte del último colaborador </a:t>
            </a:r>
            <a:endParaRPr lang="es-AR" sz="2300" b="0" strike="noStrike" spc="-1">
              <a:solidFill>
                <a:srgbClr val="000000"/>
              </a:solidFill>
              <a:latin typeface="Arial"/>
            </a:endParaRPr>
          </a:p>
          <a:p>
            <a:pPr marL="216000" indent="-216000">
              <a:lnSpc>
                <a:spcPct val="100000"/>
              </a:lnSpc>
              <a:buClr>
                <a:srgbClr val="000000"/>
              </a:buClr>
              <a:buFont typeface="Wingdings" charset="2"/>
              <a:buChar char=""/>
            </a:pPr>
            <a:r>
              <a:rPr lang="es-ES" sz="2300" b="0" strike="noStrike" spc="-1">
                <a:solidFill>
                  <a:srgbClr val="000000"/>
                </a:solidFill>
                <a:latin typeface="Times New Roman"/>
                <a:ea typeface="DejaVu Sans"/>
              </a:rPr>
              <a:t>Obras póstumas (ver art.7 también): el término de setenta años empezará a correr a partir del 1 de Enero del año siguiente al de la muerte del autor.</a:t>
            </a:r>
            <a:endParaRPr lang="es-AR" sz="2300" b="0" strike="noStrike" spc="-1">
              <a:solidFill>
                <a:srgbClr val="000000"/>
              </a:solidFill>
              <a:latin typeface="Arial"/>
            </a:endParaRPr>
          </a:p>
          <a:p>
            <a:pPr marL="216000" indent="-216000">
              <a:lnSpc>
                <a:spcPct val="100000"/>
              </a:lnSpc>
              <a:buClr>
                <a:srgbClr val="000000"/>
              </a:buClr>
              <a:buFont typeface="Wingdings" charset="2"/>
              <a:buChar char=""/>
            </a:pPr>
            <a:r>
              <a:rPr lang="es-ES" sz="2300" b="0" strike="noStrike" spc="-1">
                <a:solidFill>
                  <a:srgbClr val="000000"/>
                </a:solidFill>
                <a:latin typeface="Times New Roman"/>
                <a:ea typeface="DejaVu Sans"/>
              </a:rPr>
              <a:t>Herencia vacante: los derechos sobre las obras pasarán al Estado por todo el término de Ley, sin perjuicio de los derechos de terceros.</a:t>
            </a:r>
            <a:endParaRPr lang="es-AR" sz="2300" b="0" strike="noStrike" spc="-1">
              <a:solidFill>
                <a:srgbClr val="000000"/>
              </a:solidFill>
              <a:latin typeface="Arial"/>
            </a:endParaRPr>
          </a:p>
          <a:p>
            <a:pPr>
              <a:lnSpc>
                <a:spcPct val="100000"/>
              </a:lnSpc>
            </a:pPr>
            <a:r>
              <a:rPr lang="es-ES" sz="2300" b="0" i="1" strike="noStrike" spc="-1">
                <a:solidFill>
                  <a:srgbClr val="000000"/>
                </a:solidFill>
                <a:latin typeface="Times New Roman"/>
                <a:ea typeface="DejaVu Sans"/>
              </a:rPr>
              <a:t>(Artículo sustituido por art. 1° de la Ley N° 24.870 B.O. 16/9/1997)</a:t>
            </a:r>
            <a:endParaRPr lang="es-AR" sz="23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 Box 2"/>
          <p:cNvSpPr/>
          <p:nvPr/>
        </p:nvSpPr>
        <p:spPr>
          <a:xfrm>
            <a:off x="539640" y="404640"/>
            <a:ext cx="8279280" cy="612252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200" b="1" strike="noStrike" spc="-1">
                <a:solidFill>
                  <a:srgbClr val="000000"/>
                </a:solidFill>
                <a:latin typeface="Times New Roman"/>
                <a:ea typeface="DejaVu Sans"/>
              </a:rPr>
              <a:t>*Art. 6°.</a:t>
            </a:r>
            <a:r>
              <a:rPr lang="es-ES" sz="2200" b="0" strike="noStrike" spc="-1">
                <a:solidFill>
                  <a:srgbClr val="000000"/>
                </a:solidFill>
                <a:latin typeface="Times New Roman"/>
                <a:ea typeface="DejaVu Sans"/>
              </a:rPr>
              <a:t> — Los herederos no podrán oponerse a que  terceros:</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reediten la obra cuando dejen transcurrir mas de diez años sin publicarla</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traduzcan las obras después de diez años de su fallecimiento</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0" strike="noStrike" spc="-1">
                <a:solidFill>
                  <a:srgbClr val="000000"/>
                </a:solidFill>
                <a:latin typeface="Times New Roman"/>
                <a:ea typeface="DejaVu Sans"/>
              </a:rPr>
              <a:t>si en estos casos no hubiera acuerdo sobre las condiciones de impresión o la retribución pecuniaria, ambas serán fijadas por árbitros.</a:t>
            </a:r>
            <a:endParaRPr lang="es-AR" sz="2200" b="0" strike="noStrike" spc="-1">
              <a:solidFill>
                <a:srgbClr val="000000"/>
              </a:solidFill>
              <a:latin typeface="Arial"/>
            </a:endParaRPr>
          </a:p>
          <a:p>
            <a:pPr>
              <a:lnSpc>
                <a:spcPct val="100000"/>
              </a:lnSpc>
            </a:pPr>
            <a:endParaRPr lang="es-AR" sz="2200" b="0" strike="noStrike" spc="-1">
              <a:solidFill>
                <a:srgbClr val="000000"/>
              </a:solidFill>
              <a:latin typeface="Arial"/>
            </a:endParaRPr>
          </a:p>
          <a:p>
            <a:pPr>
              <a:lnSpc>
                <a:spcPct val="100000"/>
              </a:lnSpc>
            </a:pPr>
            <a:r>
              <a:rPr lang="es-ES" sz="2200" b="1" strike="noStrike" spc="-1">
                <a:solidFill>
                  <a:srgbClr val="000000"/>
                </a:solidFill>
                <a:latin typeface="Times New Roman"/>
                <a:ea typeface="DejaVu Sans"/>
              </a:rPr>
              <a:t>*Art. 7°.</a:t>
            </a:r>
            <a:r>
              <a:rPr lang="es-ES" sz="2200" b="0" strike="noStrike" spc="-1">
                <a:solidFill>
                  <a:srgbClr val="000000"/>
                </a:solidFill>
                <a:latin typeface="Times New Roman"/>
                <a:ea typeface="DejaVu Sans"/>
              </a:rPr>
              <a:t> - Se consideran obras póstumas, además de las no publicadas en vida del autor, las que lo hubieran sido durante ésta, si el mismo autor a su fallecimiento las deja refundidas, adicionadas, anotadas o corregidas de una manera tal que merezcan reputarse como obras nuevas.</a:t>
            </a:r>
            <a:endParaRPr lang="es-AR" sz="2200" b="0" strike="noStrike" spc="-1">
              <a:solidFill>
                <a:srgbClr val="000000"/>
              </a:solidFill>
              <a:latin typeface="Arial"/>
            </a:endParaRPr>
          </a:p>
          <a:p>
            <a:pPr>
              <a:lnSpc>
                <a:spcPct val="100000"/>
              </a:lnSpc>
            </a:pPr>
            <a:endParaRPr lang="es-AR" sz="2200" b="0" strike="noStrike" spc="-1">
              <a:solidFill>
                <a:srgbClr val="000000"/>
              </a:solidFill>
              <a:latin typeface="Arial"/>
            </a:endParaRPr>
          </a:p>
          <a:p>
            <a:pPr>
              <a:lnSpc>
                <a:spcPct val="100000"/>
              </a:lnSpc>
            </a:pPr>
            <a:r>
              <a:rPr lang="es-ES" sz="2200" b="1" strike="noStrike" spc="-1">
                <a:solidFill>
                  <a:srgbClr val="000000"/>
                </a:solidFill>
                <a:latin typeface="Times New Roman"/>
                <a:ea typeface="DejaVu Sans"/>
              </a:rPr>
              <a:t>Art. 8°.</a:t>
            </a:r>
            <a:r>
              <a:rPr lang="es-ES" sz="2200" b="0" strike="noStrike" spc="-1">
                <a:solidFill>
                  <a:srgbClr val="000000"/>
                </a:solidFill>
                <a:latin typeface="Times New Roman"/>
                <a:ea typeface="DejaVu Sans"/>
              </a:rPr>
              <a:t> - </a:t>
            </a:r>
            <a:r>
              <a:rPr lang="es-ES" sz="2200" b="0" u="sng" strike="noStrike" spc="-1">
                <a:solidFill>
                  <a:srgbClr val="000000"/>
                </a:solidFill>
                <a:uFillTx/>
                <a:latin typeface="Times New Roman"/>
                <a:ea typeface="DejaVu Sans"/>
              </a:rPr>
              <a:t>La propiedad intelectual de las obras anónimas pertenecientes a instituciones, corporaciones o personas jurídicas, durará cincuenta años contados desde su publicación</a:t>
            </a:r>
            <a:r>
              <a:rPr lang="es-ES" sz="2200" b="0" strike="noStrike" spc="-1">
                <a:solidFill>
                  <a:srgbClr val="000000"/>
                </a:solidFill>
                <a:latin typeface="Times New Roman"/>
                <a:ea typeface="DejaVu Sans"/>
              </a:rPr>
              <a:t>.</a:t>
            </a:r>
            <a:endParaRPr lang="es-AR" sz="2200" b="0" strike="noStrike" spc="-1">
              <a:solidFill>
                <a:srgbClr val="000000"/>
              </a:solidFill>
              <a:latin typeface="Arial"/>
            </a:endParaRPr>
          </a:p>
          <a:p>
            <a:pPr>
              <a:lnSpc>
                <a:spcPct val="100000"/>
              </a:lnSpc>
            </a:pPr>
            <a:r>
              <a:rPr lang="es-ES" sz="2200" b="0" i="1" strike="noStrike" spc="-1">
                <a:solidFill>
                  <a:srgbClr val="000000"/>
                </a:solidFill>
                <a:latin typeface="Times New Roman"/>
                <a:ea typeface="DejaVu Sans"/>
              </a:rPr>
              <a:t>(Artículo sust. por art. 1° Decreto Ley 12.063/57 B.O. 11/10/57.)</a:t>
            </a:r>
            <a:r>
              <a:rPr lang="es-ES" sz="2200" b="0" strike="noStrike" spc="-1">
                <a:solidFill>
                  <a:srgbClr val="000000"/>
                </a:solidFill>
                <a:latin typeface="Times New Roman"/>
                <a:ea typeface="DejaVu Sans"/>
              </a:rPr>
              <a:t> </a:t>
            </a:r>
            <a:endParaRPr lang="es-AR" sz="2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 Box 2"/>
          <p:cNvSpPr/>
          <p:nvPr/>
        </p:nvSpPr>
        <p:spPr>
          <a:xfrm>
            <a:off x="395280" y="476280"/>
            <a:ext cx="8298360" cy="51771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600" b="1" strike="noStrike" spc="-1">
                <a:solidFill>
                  <a:srgbClr val="000000"/>
                </a:solidFill>
                <a:latin typeface="Times New Roman"/>
                <a:ea typeface="DejaVu Sans"/>
              </a:rPr>
              <a:t>*Art. 9°.</a:t>
            </a:r>
            <a:r>
              <a:rPr lang="es-ES" sz="2600" b="0" strike="noStrike" spc="-1">
                <a:solidFill>
                  <a:srgbClr val="000000"/>
                </a:solidFill>
                <a:latin typeface="Times New Roman"/>
                <a:ea typeface="DejaVu Sans"/>
              </a:rPr>
              <a:t> - Nadie tiene derecho a publicar, sin permiso de los autores o de sus derechohabientes, una producción científica, literaria, artística o musical que se haya anotado o copiado durante su lectura, ejecución o exposición públicas o privadas.</a:t>
            </a:r>
            <a:endParaRPr lang="es-AR" sz="2600" b="0" strike="noStrike" spc="-1">
              <a:solidFill>
                <a:srgbClr val="000000"/>
              </a:solidFill>
              <a:latin typeface="Arial"/>
            </a:endParaRPr>
          </a:p>
          <a:p>
            <a:pPr>
              <a:lnSpc>
                <a:spcPct val="100000"/>
              </a:lnSpc>
            </a:pPr>
            <a:r>
              <a:rPr lang="es-ES" sz="2600" b="0" strike="noStrike" spc="-1">
                <a:solidFill>
                  <a:srgbClr val="000000"/>
                </a:solidFill>
                <a:latin typeface="Times New Roman"/>
                <a:ea typeface="DejaVu Sans"/>
              </a:rPr>
              <a:t>*</a:t>
            </a:r>
            <a:r>
              <a:rPr lang="es-ES" sz="2600" b="0" u="sng" strike="noStrike" spc="-1">
                <a:solidFill>
                  <a:srgbClr val="000000"/>
                </a:solidFill>
                <a:uFillTx/>
                <a:latin typeface="Times New Roman"/>
                <a:ea typeface="DejaVu Sans"/>
              </a:rPr>
              <a:t>Quien haya recibido de los autores  de un software una licencia para usarlo, podrá reproducir una copia de salvaguarda de los originales. </a:t>
            </a:r>
            <a:endParaRPr lang="es-AR" sz="2600" b="0" strike="noStrike" spc="-1">
              <a:solidFill>
                <a:srgbClr val="000000"/>
              </a:solidFill>
              <a:latin typeface="Arial"/>
            </a:endParaRPr>
          </a:p>
          <a:p>
            <a:pPr>
              <a:lnSpc>
                <a:spcPct val="100000"/>
              </a:lnSpc>
            </a:pPr>
            <a:r>
              <a:rPr lang="es-ES" sz="2400" b="0" i="1" strike="noStrike" spc="-1">
                <a:solidFill>
                  <a:srgbClr val="000000"/>
                </a:solidFill>
                <a:latin typeface="Times New Roman"/>
                <a:ea typeface="DejaVu Sans"/>
              </a:rPr>
              <a:t>(Párrafo incorporado por art.3° la Ley 25.036 B.O. 11/11/1998).</a:t>
            </a:r>
            <a:endParaRPr lang="es-AR" sz="2400" b="0" strike="noStrike" spc="-1">
              <a:solidFill>
                <a:srgbClr val="000000"/>
              </a:solidFill>
              <a:latin typeface="Arial"/>
            </a:endParaRPr>
          </a:p>
          <a:p>
            <a:pPr>
              <a:lnSpc>
                <a:spcPct val="100000"/>
              </a:lnSpc>
            </a:pPr>
            <a:r>
              <a:rPr lang="es-ES" sz="2600" b="0" strike="noStrike" spc="-1">
                <a:solidFill>
                  <a:srgbClr val="000000"/>
                </a:solidFill>
                <a:latin typeface="Times New Roman"/>
                <a:ea typeface="DejaVu Sans"/>
              </a:rPr>
              <a:t>*Dicha copia debe estar identificada, con indicación del Licenciado que la realizó y la fecha de la misma y no podrá ser utilizada para otros fines. </a:t>
            </a:r>
            <a:endParaRPr lang="es-AR" sz="2600" b="0" strike="noStrike" spc="-1">
              <a:solidFill>
                <a:srgbClr val="000000"/>
              </a:solidFill>
              <a:latin typeface="Arial"/>
            </a:endParaRPr>
          </a:p>
          <a:p>
            <a:pPr>
              <a:lnSpc>
                <a:spcPct val="100000"/>
              </a:lnSpc>
            </a:pPr>
            <a:r>
              <a:rPr lang="es-ES" sz="2400" b="0" i="1" strike="noStrike" spc="-1">
                <a:solidFill>
                  <a:srgbClr val="000000"/>
                </a:solidFill>
                <a:latin typeface="Times New Roman"/>
                <a:ea typeface="DejaVu Sans"/>
              </a:rPr>
              <a:t>(Párrafo incorporado por art. 3° Ley Nº 25.036 B.O. 11/11/1998).</a:t>
            </a:r>
            <a:endParaRPr lang="es-AR"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Box 2"/>
          <p:cNvSpPr/>
          <p:nvPr/>
        </p:nvSpPr>
        <p:spPr>
          <a:xfrm>
            <a:off x="684360" y="333360"/>
            <a:ext cx="7939440" cy="618372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500" b="1" strike="noStrike" spc="-1">
                <a:solidFill>
                  <a:srgbClr val="000000"/>
                </a:solidFill>
                <a:latin typeface="Times New Roman"/>
                <a:ea typeface="DejaVu Sans"/>
              </a:rPr>
              <a:t>*</a:t>
            </a:r>
            <a:r>
              <a:rPr lang="es-ES" sz="2500" b="1" u="sng" strike="noStrike" spc="-1">
                <a:solidFill>
                  <a:srgbClr val="000000"/>
                </a:solidFill>
                <a:uFillTx/>
                <a:latin typeface="Times New Roman"/>
                <a:ea typeface="DejaVu Sans"/>
              </a:rPr>
              <a:t>Art. 10</a:t>
            </a:r>
            <a:r>
              <a:rPr lang="es-ES" sz="2500" b="1" strike="noStrike" spc="-1">
                <a:solidFill>
                  <a:srgbClr val="000000"/>
                </a:solidFill>
                <a:latin typeface="Times New Roman"/>
                <a:ea typeface="DejaVu Sans"/>
              </a:rPr>
              <a:t>.</a:t>
            </a:r>
            <a:r>
              <a:rPr lang="es-ES" sz="2500" b="0" strike="noStrike" spc="-1">
                <a:solidFill>
                  <a:srgbClr val="000000"/>
                </a:solidFill>
                <a:latin typeface="Times New Roman"/>
                <a:ea typeface="DejaVu Sans"/>
              </a:rPr>
              <a:t> — </a:t>
            </a:r>
            <a:r>
              <a:rPr lang="es-ES" sz="2500" b="0" u="sng" strike="noStrike" spc="-1">
                <a:solidFill>
                  <a:srgbClr val="000000"/>
                </a:solidFill>
                <a:uFillTx/>
                <a:latin typeface="Times New Roman"/>
                <a:ea typeface="DejaVu Sans"/>
              </a:rPr>
              <a:t>Cualquiera puede publicar con fines didácticos o científicos comentarios criticas o notas de obras intelectuales, incluyendo hasta 1000 palabras u 8 compases musicales.</a:t>
            </a:r>
            <a:endParaRPr lang="es-AR" sz="2500" b="0" strike="noStrike" spc="-1">
              <a:solidFill>
                <a:srgbClr val="000000"/>
              </a:solidFill>
              <a:latin typeface="Arial"/>
            </a:endParaRPr>
          </a:p>
          <a:p>
            <a:pPr>
              <a:lnSpc>
                <a:spcPct val="100000"/>
              </a:lnSpc>
            </a:pPr>
            <a:r>
              <a:rPr lang="es-ES" sz="2500" b="1" strike="noStrike" spc="-1">
                <a:solidFill>
                  <a:srgbClr val="000000"/>
                </a:solidFill>
                <a:latin typeface="Times New Roman"/>
                <a:ea typeface="DejaVu Sans"/>
              </a:rPr>
              <a:t>*</a:t>
            </a:r>
            <a:r>
              <a:rPr lang="es-ES" sz="2500" b="1" u="sng" strike="noStrike" spc="-1">
                <a:solidFill>
                  <a:srgbClr val="000000"/>
                </a:solidFill>
                <a:uFillTx/>
                <a:latin typeface="Times New Roman"/>
                <a:ea typeface="DejaVu Sans"/>
              </a:rPr>
              <a:t>Art. 11</a:t>
            </a:r>
            <a:r>
              <a:rPr lang="es-ES" sz="2500" b="1" strike="noStrike" spc="-1">
                <a:solidFill>
                  <a:srgbClr val="000000"/>
                </a:solidFill>
                <a:latin typeface="Times New Roman"/>
                <a:ea typeface="DejaVu Sans"/>
              </a:rPr>
              <a:t>.</a:t>
            </a:r>
            <a:r>
              <a:rPr lang="es-ES" sz="2500" b="0" strike="noStrike" spc="-1">
                <a:solidFill>
                  <a:srgbClr val="000000"/>
                </a:solidFill>
                <a:latin typeface="Times New Roman"/>
                <a:ea typeface="DejaVu Sans"/>
              </a:rPr>
              <a:t> — Cuando las partes o los tomos de una misma obra hayan sido publicados por separado en años distintos, los plazos establecidos por la presente Ley corren para cada tomo o cada parte, desde el año de la publicación. Tratándose de obras publicadas parcial o periódicamente por entregas o folletines, los plazos establecidos en la presente Ley corren a partir de la fecha de la última entrega.</a:t>
            </a:r>
            <a:endParaRPr lang="es-AR" sz="2500" b="0" strike="noStrike" spc="-1">
              <a:solidFill>
                <a:srgbClr val="000000"/>
              </a:solidFill>
              <a:latin typeface="Arial"/>
            </a:endParaRPr>
          </a:p>
          <a:p>
            <a:pPr>
              <a:lnSpc>
                <a:spcPct val="100000"/>
              </a:lnSpc>
            </a:pPr>
            <a:r>
              <a:rPr lang="es-ES" sz="2500" b="1" strike="noStrike" spc="-1">
                <a:solidFill>
                  <a:srgbClr val="000000"/>
                </a:solidFill>
                <a:latin typeface="Times New Roman"/>
                <a:ea typeface="DejaVu Sans"/>
              </a:rPr>
              <a:t>Art. 12.</a:t>
            </a:r>
            <a:r>
              <a:rPr lang="es-ES" sz="2500" b="0" strike="noStrike" spc="-1">
                <a:solidFill>
                  <a:srgbClr val="000000"/>
                </a:solidFill>
                <a:latin typeface="Times New Roman"/>
                <a:ea typeface="DejaVu Sans"/>
              </a:rPr>
              <a:t> — </a:t>
            </a:r>
            <a:r>
              <a:rPr lang="es-ES" sz="2500" b="0" u="sng" strike="noStrike" spc="-1">
                <a:solidFill>
                  <a:srgbClr val="000000"/>
                </a:solidFill>
                <a:uFillTx/>
                <a:latin typeface="Times New Roman"/>
                <a:ea typeface="DejaVu Sans"/>
              </a:rPr>
              <a:t>La propiedad intelectual se regirá por las disposiciones del derecho común, </a:t>
            </a:r>
            <a:r>
              <a:rPr lang="es-ES" sz="2500" b="0" strike="noStrike" spc="-1">
                <a:solidFill>
                  <a:srgbClr val="000000"/>
                </a:solidFill>
                <a:latin typeface="Times New Roman"/>
                <a:ea typeface="DejaVu Sans"/>
              </a:rPr>
              <a:t>bajo las condiciones y limitaciones establecidas en la presente Ley.</a:t>
            </a:r>
            <a:endParaRPr lang="es-AR" sz="2500" b="0" strike="noStrike" spc="-1">
              <a:solidFill>
                <a:srgbClr val="000000"/>
              </a:solidFill>
              <a:latin typeface="Arial"/>
            </a:endParaRPr>
          </a:p>
          <a:p>
            <a:pPr>
              <a:lnSpc>
                <a:spcPct val="100000"/>
              </a:lnSpc>
            </a:pPr>
            <a:endParaRPr lang="es-AR" sz="2500" b="0" strike="noStrike" spc="-1">
              <a:solidFill>
                <a:srgbClr val="000000"/>
              </a:solidFill>
              <a:latin typeface="Arial"/>
            </a:endParaRPr>
          </a:p>
          <a:p>
            <a:pPr>
              <a:lnSpc>
                <a:spcPct val="100000"/>
              </a:lnSpc>
            </a:pPr>
            <a:endParaRPr lang="es-AR" sz="25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 Box 2"/>
          <p:cNvSpPr/>
          <p:nvPr/>
        </p:nvSpPr>
        <p:spPr>
          <a:xfrm>
            <a:off x="551520" y="228960"/>
            <a:ext cx="8766720" cy="5421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500" b="0" strike="noStrike" spc="-1">
                <a:solidFill>
                  <a:srgbClr val="000000"/>
                </a:solidFill>
                <a:latin typeface="Times New Roman"/>
                <a:ea typeface="DejaVu Sans"/>
              </a:rPr>
              <a:t>DE LAS OBRAS EXTRANJERAS</a:t>
            </a:r>
            <a:endParaRPr lang="es-AR" sz="2500" b="0" strike="noStrike" spc="-1">
              <a:solidFill>
                <a:srgbClr val="000000"/>
              </a:solidFill>
              <a:latin typeface="Arial"/>
            </a:endParaRPr>
          </a:p>
          <a:p>
            <a:pPr>
              <a:lnSpc>
                <a:spcPct val="100000"/>
              </a:lnSpc>
            </a:pPr>
            <a:r>
              <a:rPr lang="es-ES" sz="2500" b="1" strike="noStrike" spc="-1">
                <a:solidFill>
                  <a:srgbClr val="000000"/>
                </a:solidFill>
                <a:latin typeface="Times New Roman"/>
                <a:ea typeface="DejaVu Sans"/>
              </a:rPr>
              <a:t>*</a:t>
            </a:r>
            <a:r>
              <a:rPr lang="es-ES" sz="2500" b="1" u="sng" strike="noStrike" spc="-1">
                <a:solidFill>
                  <a:srgbClr val="000000"/>
                </a:solidFill>
                <a:uFillTx/>
                <a:latin typeface="Times New Roman"/>
                <a:ea typeface="DejaVu Sans"/>
              </a:rPr>
              <a:t>Art. 13</a:t>
            </a:r>
            <a:r>
              <a:rPr lang="es-ES" sz="2500" b="1" strike="noStrike" spc="-1">
                <a:solidFill>
                  <a:srgbClr val="000000"/>
                </a:solidFill>
                <a:latin typeface="Times New Roman"/>
                <a:ea typeface="DejaVu Sans"/>
              </a:rPr>
              <a:t>.</a:t>
            </a:r>
            <a:r>
              <a:rPr lang="es-ES" sz="2500" b="0" strike="noStrike" spc="-1">
                <a:solidFill>
                  <a:srgbClr val="000000"/>
                </a:solidFill>
                <a:latin typeface="Times New Roman"/>
                <a:ea typeface="DejaVu Sans"/>
              </a:rPr>
              <a:t> — Todas </a:t>
            </a:r>
            <a:r>
              <a:rPr lang="es-ES" sz="2500" b="0" u="sng" strike="noStrike" spc="-1">
                <a:solidFill>
                  <a:srgbClr val="000000"/>
                </a:solidFill>
                <a:uFillTx/>
                <a:latin typeface="Times New Roman"/>
                <a:ea typeface="DejaVu Sans"/>
              </a:rPr>
              <a:t>las disposiciones de esta Ley, salvo el art.57 </a:t>
            </a:r>
            <a:r>
              <a:rPr lang="es-ES" sz="2500" b="0" i="1" u="sng" strike="noStrike" spc="-1">
                <a:solidFill>
                  <a:srgbClr val="000000"/>
                </a:solidFill>
                <a:uFillTx/>
                <a:latin typeface="Times New Roman"/>
                <a:ea typeface="DejaVu Sans"/>
              </a:rPr>
              <a:t>(requisitos formales locales)</a:t>
            </a:r>
            <a:r>
              <a:rPr lang="es-ES" sz="2500" b="0" u="sng" strike="noStrike" spc="-1">
                <a:solidFill>
                  <a:srgbClr val="000000"/>
                </a:solidFill>
                <a:uFillTx/>
                <a:latin typeface="Times New Roman"/>
                <a:ea typeface="DejaVu Sans"/>
              </a:rPr>
              <a:t> son aplicables a las obras producidas y publicadas en países extranjeros siempre que pertenezcan a naciones que reconocen el derecho de propiedad intelectual.</a:t>
            </a:r>
            <a:endParaRPr lang="es-AR" sz="2500" b="0" strike="noStrike" spc="-1">
              <a:solidFill>
                <a:srgbClr val="000000"/>
              </a:solidFill>
              <a:latin typeface="Arial"/>
            </a:endParaRPr>
          </a:p>
          <a:p>
            <a:pPr>
              <a:lnSpc>
                <a:spcPct val="100000"/>
              </a:lnSpc>
            </a:pPr>
            <a:r>
              <a:rPr lang="es-ES" sz="2500" b="1" strike="noStrike" spc="-1">
                <a:solidFill>
                  <a:srgbClr val="000000"/>
                </a:solidFill>
                <a:latin typeface="Times New Roman"/>
                <a:ea typeface="DejaVu Sans"/>
              </a:rPr>
              <a:t>Art. 14.</a:t>
            </a:r>
            <a:r>
              <a:rPr lang="es-ES" sz="2500" b="0" strike="noStrike" spc="-1">
                <a:solidFill>
                  <a:srgbClr val="000000"/>
                </a:solidFill>
                <a:latin typeface="Times New Roman"/>
                <a:ea typeface="DejaVu Sans"/>
              </a:rPr>
              <a:t> — </a:t>
            </a:r>
            <a:r>
              <a:rPr lang="es-ES" sz="2500" b="0" u="sng" strike="noStrike" spc="-1">
                <a:solidFill>
                  <a:srgbClr val="000000"/>
                </a:solidFill>
                <a:uFillTx/>
                <a:latin typeface="Times New Roman"/>
                <a:ea typeface="DejaVu Sans"/>
              </a:rPr>
              <a:t>El autor de una obra extranjera sólo necesita acreditar el cumplimiento de las formalidades establecidas para su protección por las Leyes del país en que se haya hecho la publicación.</a:t>
            </a:r>
            <a:endParaRPr lang="es-AR" sz="2500" b="0" strike="noStrike" spc="-1">
              <a:solidFill>
                <a:srgbClr val="000000"/>
              </a:solidFill>
              <a:latin typeface="Arial"/>
            </a:endParaRPr>
          </a:p>
          <a:p>
            <a:pPr>
              <a:lnSpc>
                <a:spcPct val="100000"/>
              </a:lnSpc>
            </a:pPr>
            <a:r>
              <a:rPr lang="es-ES" sz="2500" b="1" strike="noStrike" spc="-1">
                <a:solidFill>
                  <a:srgbClr val="000000"/>
                </a:solidFill>
                <a:latin typeface="Times New Roman"/>
                <a:ea typeface="DejaVu Sans"/>
              </a:rPr>
              <a:t>Art. 15.</a:t>
            </a:r>
            <a:r>
              <a:rPr lang="es-ES" sz="2500" b="0" strike="noStrike" spc="-1">
                <a:solidFill>
                  <a:srgbClr val="000000"/>
                </a:solidFill>
                <a:latin typeface="Times New Roman"/>
                <a:ea typeface="DejaVu Sans"/>
              </a:rPr>
              <a:t> —</a:t>
            </a:r>
            <a:r>
              <a:rPr lang="es-ES" sz="2500" b="0" u="sng" strike="noStrike" spc="-1">
                <a:solidFill>
                  <a:srgbClr val="000000"/>
                </a:solidFill>
                <a:uFillTx/>
                <a:latin typeface="Times New Roman"/>
                <a:ea typeface="DejaVu Sans"/>
              </a:rPr>
              <a:t> La protección que la Ley argentina acuerda a los autores extranjeros, no se extenderá a un período mayor que el reconocido por las Leyes del país donde se hubiere publicado la obra. Si tales Leyes acuerdan una protección mayor, regirán los términos de la presente Ley.</a:t>
            </a:r>
            <a:endParaRPr lang="es-AR" sz="25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 Box 2"/>
          <p:cNvSpPr/>
          <p:nvPr/>
        </p:nvSpPr>
        <p:spPr>
          <a:xfrm>
            <a:off x="385920" y="487080"/>
            <a:ext cx="8371440" cy="55760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400" b="0" strike="noStrike" spc="-1">
                <a:solidFill>
                  <a:srgbClr val="000000"/>
                </a:solidFill>
                <a:latin typeface="Times New Roman"/>
                <a:ea typeface="DejaVu Sans"/>
              </a:rPr>
              <a:t>DE LA COLABORACION</a:t>
            </a:r>
            <a:endParaRPr lang="es-AR" sz="24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a:t>
            </a:r>
            <a:r>
              <a:rPr lang="es-ES" sz="2400" b="1" u="sng" strike="noStrike" spc="-1">
                <a:solidFill>
                  <a:srgbClr val="000000"/>
                </a:solidFill>
                <a:uFillTx/>
                <a:latin typeface="Times New Roman"/>
                <a:ea typeface="DejaVu Sans"/>
              </a:rPr>
              <a:t>Art. 16</a:t>
            </a:r>
            <a:r>
              <a:rPr lang="es-ES" sz="2400" b="1" strike="noStrike" spc="-1">
                <a:solidFill>
                  <a:srgbClr val="000000"/>
                </a:solidFill>
                <a:latin typeface="Times New Roman"/>
                <a:ea typeface="DejaVu Sans"/>
              </a:rPr>
              <a:t>.</a:t>
            </a:r>
            <a:r>
              <a:rPr lang="es-ES" sz="2400" b="0" strike="noStrike" spc="-1">
                <a:solidFill>
                  <a:srgbClr val="000000"/>
                </a:solidFill>
                <a:latin typeface="Times New Roman"/>
                <a:ea typeface="DejaVu Sans"/>
              </a:rPr>
              <a:t> — </a:t>
            </a:r>
            <a:r>
              <a:rPr lang="es-ES" sz="2400" b="0" u="sng" strike="noStrike" spc="-1">
                <a:solidFill>
                  <a:srgbClr val="000000"/>
                </a:solidFill>
                <a:uFillTx/>
                <a:latin typeface="Times New Roman"/>
                <a:ea typeface="DejaVu Sans"/>
              </a:rPr>
              <a:t>Salvo convenios especiales los colaboradores de una obra disfrutan derechos iguales.</a:t>
            </a:r>
            <a:endParaRPr lang="es-AR" sz="24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a:t>
            </a:r>
            <a:r>
              <a:rPr lang="es-ES" sz="2400" b="1" u="sng" strike="noStrike" spc="-1">
                <a:solidFill>
                  <a:srgbClr val="000000"/>
                </a:solidFill>
                <a:uFillTx/>
                <a:latin typeface="Times New Roman"/>
                <a:ea typeface="DejaVu Sans"/>
              </a:rPr>
              <a:t>Art. 17</a:t>
            </a:r>
            <a:r>
              <a:rPr lang="es-ES" sz="2400" b="1" strike="noStrike" spc="-1">
                <a:solidFill>
                  <a:srgbClr val="000000"/>
                </a:solidFill>
                <a:latin typeface="Times New Roman"/>
                <a:ea typeface="DejaVu Sans"/>
              </a:rPr>
              <a:t>.</a:t>
            </a:r>
            <a:r>
              <a:rPr lang="es-ES" sz="2400" b="0" strike="noStrike" spc="-1">
                <a:solidFill>
                  <a:srgbClr val="000000"/>
                </a:solidFill>
                <a:latin typeface="Times New Roman"/>
                <a:ea typeface="DejaVu Sans"/>
              </a:rPr>
              <a:t> —</a:t>
            </a:r>
            <a:r>
              <a:rPr lang="es-ES" sz="2400" b="0" u="sng" strike="noStrike" spc="-1">
                <a:solidFill>
                  <a:srgbClr val="000000"/>
                </a:solidFill>
                <a:uFillTx/>
                <a:latin typeface="Times New Roman"/>
                <a:ea typeface="DejaVu Sans"/>
              </a:rPr>
              <a:t> Se considera colaboración en el caso en que la propiedad no pueda dividirse sin alterar la naturaleza de la obra. </a:t>
            </a:r>
            <a:r>
              <a:rPr lang="es-ES" sz="2400" b="0" strike="noStrike" spc="-1">
                <a:solidFill>
                  <a:srgbClr val="000000"/>
                </a:solidFill>
                <a:latin typeface="Times New Roman"/>
                <a:ea typeface="DejaVu Sans"/>
              </a:rPr>
              <a:t>(Composiciones musicales con palabras: música y letra son dos obras distintas).</a:t>
            </a:r>
            <a:endParaRPr lang="es-AR" sz="24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a:t>
            </a:r>
            <a:r>
              <a:rPr lang="es-ES" sz="2400" b="1" u="sng" strike="noStrike" spc="-1">
                <a:solidFill>
                  <a:srgbClr val="000000"/>
                </a:solidFill>
                <a:uFillTx/>
                <a:latin typeface="Times New Roman"/>
                <a:ea typeface="DejaVu Sans"/>
              </a:rPr>
              <a:t>Art. 23</a:t>
            </a:r>
            <a:r>
              <a:rPr lang="es-ES" sz="2400" b="1" strike="noStrike" spc="-1">
                <a:solidFill>
                  <a:srgbClr val="000000"/>
                </a:solidFill>
                <a:latin typeface="Times New Roman"/>
                <a:ea typeface="DejaVu Sans"/>
              </a:rPr>
              <a:t>.</a:t>
            </a:r>
            <a:r>
              <a:rPr lang="es-ES" sz="2400" b="0" strike="noStrike" spc="-1">
                <a:solidFill>
                  <a:srgbClr val="000000"/>
                </a:solidFill>
                <a:latin typeface="Times New Roman"/>
                <a:ea typeface="DejaVu Sans"/>
              </a:rPr>
              <a:t> — El titular de un derecho de traducción tiene sobre ella el derecho de propiedad en las condiciones convenidas con el autor, siempre que los contratos de traducción se inscriban en el Registro Nacional de Propiedad Intelectual dentro del año de la publicación de la obra traducida.</a:t>
            </a:r>
            <a:endParaRPr lang="es-AR" sz="24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Art. 24.</a:t>
            </a:r>
            <a:r>
              <a:rPr lang="es-ES" sz="2400" b="0" strike="noStrike" spc="-1">
                <a:solidFill>
                  <a:srgbClr val="000000"/>
                </a:solidFill>
                <a:latin typeface="Times New Roman"/>
                <a:ea typeface="DejaVu Sans"/>
              </a:rPr>
              <a:t> — El traductor de una obra que no pertenece al dominio privado sólo tiene propiedad sobre su versión y no podrá oponerse a que otros la traduzcan de nuevo.</a:t>
            </a:r>
            <a:endParaRPr lang="es-AR"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 Box 2"/>
          <p:cNvSpPr/>
          <p:nvPr/>
        </p:nvSpPr>
        <p:spPr>
          <a:xfrm>
            <a:off x="592200" y="423720"/>
            <a:ext cx="7866720" cy="57567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3600" b="1" strike="noStrike" spc="-1">
                <a:solidFill>
                  <a:srgbClr val="000000"/>
                </a:solidFill>
                <a:latin typeface="Times New Roman"/>
                <a:ea typeface="DejaVu Sans"/>
              </a:rPr>
              <a:t>Contrato de Edición</a:t>
            </a:r>
            <a:r>
              <a:rPr lang="es-ES" sz="3200" b="1" strike="noStrike" spc="-1">
                <a:solidFill>
                  <a:srgbClr val="000000"/>
                </a:solidFill>
                <a:latin typeface="Times New Roman"/>
                <a:ea typeface="DejaVu Sans"/>
              </a:rPr>
              <a:t> </a:t>
            </a:r>
            <a:endParaRPr lang="es-AR" sz="32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(Art.37 y sucesivos):</a:t>
            </a:r>
            <a:r>
              <a:rPr lang="es-ES" sz="2400" b="0" strike="noStrike" spc="-1">
                <a:solidFill>
                  <a:srgbClr val="000000"/>
                </a:solidFill>
                <a:latin typeface="Times New Roman"/>
                <a:ea typeface="DejaVu Sans"/>
              </a:rPr>
              <a:t> </a:t>
            </a:r>
            <a:endParaRPr lang="es-AR" sz="2400" b="0" strike="noStrike" spc="-1">
              <a:solidFill>
                <a:srgbClr val="000000"/>
              </a:solidFill>
              <a:latin typeface="Arial"/>
            </a:endParaRPr>
          </a:p>
          <a:p>
            <a:pPr>
              <a:lnSpc>
                <a:spcPct val="100000"/>
              </a:lnSpc>
            </a:pPr>
            <a:endParaRPr lang="es-AR" sz="24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Hay contrato de edición </a:t>
            </a:r>
            <a:r>
              <a:rPr lang="es-ES" sz="3200" b="0" u="sng" strike="noStrike" spc="-1">
                <a:solidFill>
                  <a:srgbClr val="000000"/>
                </a:solidFill>
                <a:uFillTx/>
                <a:latin typeface="Times New Roman"/>
                <a:ea typeface="DejaVu Sans"/>
              </a:rPr>
              <a:t>cuando el titular del derecho de propiedad sobre una obra intelectual, se obliga a entregarla a un editor y este a reproducirla, difundirla y venderla.</a:t>
            </a:r>
            <a:endParaRPr lang="es-AR" sz="3200" b="0" strike="noStrike" spc="-1">
              <a:solidFill>
                <a:srgbClr val="000000"/>
              </a:solidFill>
              <a:latin typeface="Arial"/>
            </a:endParaRPr>
          </a:p>
          <a:p>
            <a:pPr>
              <a:lnSpc>
                <a:spcPct val="100000"/>
              </a:lnSpc>
            </a:pPr>
            <a:endParaRPr lang="es-AR" sz="3200" b="0" strike="noStrike" spc="-1">
              <a:solidFill>
                <a:srgbClr val="000000"/>
              </a:solidFill>
              <a:latin typeface="Arial"/>
            </a:endParaRPr>
          </a:p>
          <a:p>
            <a:pPr>
              <a:lnSpc>
                <a:spcPct val="100000"/>
              </a:lnSpc>
            </a:pPr>
            <a:r>
              <a:rPr lang="es-ES" sz="3200" b="0" u="sng" strike="noStrike" spc="-1">
                <a:solidFill>
                  <a:srgbClr val="000000"/>
                </a:solidFill>
                <a:uFillTx/>
                <a:latin typeface="Times New Roman"/>
                <a:ea typeface="DejaVu Sans"/>
              </a:rPr>
              <a:t>El titular conserva su derecho de propiedad intelectual</a:t>
            </a:r>
            <a:r>
              <a:rPr lang="es-ES" sz="3200" b="0" strike="noStrike" spc="-1">
                <a:solidFill>
                  <a:srgbClr val="000000"/>
                </a:solidFill>
                <a:latin typeface="Times New Roman"/>
                <a:ea typeface="DejaVu Sans"/>
              </a:rPr>
              <a:t>, </a:t>
            </a:r>
            <a:r>
              <a:rPr lang="es-ES" sz="3200" b="0" u="sng" strike="noStrike" spc="-1">
                <a:solidFill>
                  <a:srgbClr val="000000"/>
                </a:solidFill>
                <a:uFillTx/>
                <a:latin typeface="Times New Roman"/>
                <a:ea typeface="DejaVu Sans"/>
              </a:rPr>
              <a:t>salvo que renunciare a ello</a:t>
            </a:r>
            <a:r>
              <a:rPr lang="es-ES" sz="3200" b="0" strike="noStrike" spc="-1">
                <a:solidFill>
                  <a:srgbClr val="000000"/>
                </a:solidFill>
                <a:latin typeface="Times New Roman"/>
                <a:ea typeface="DejaVu Sans"/>
              </a:rPr>
              <a:t> en el contrato de edición.</a:t>
            </a:r>
            <a:endParaRPr lang="es-AR" sz="3200" b="0" strike="noStrike" spc="-1">
              <a:solidFill>
                <a:srgbClr val="000000"/>
              </a:solidFill>
              <a:latin typeface="Arial"/>
            </a:endParaRPr>
          </a:p>
          <a:p>
            <a:pPr>
              <a:lnSpc>
                <a:spcPct val="100000"/>
              </a:lnSpc>
            </a:pPr>
            <a:endParaRPr lang="es-AR" sz="3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 Box 2"/>
          <p:cNvSpPr/>
          <p:nvPr/>
        </p:nvSpPr>
        <p:spPr>
          <a:xfrm>
            <a:off x="376200" y="281160"/>
            <a:ext cx="8515800" cy="523800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3000" b="1" strike="noStrike" spc="-1">
                <a:solidFill>
                  <a:srgbClr val="000000"/>
                </a:solidFill>
                <a:latin typeface="Times New Roman"/>
                <a:ea typeface="DejaVu Sans"/>
              </a:rPr>
              <a:t>*</a:t>
            </a:r>
            <a:r>
              <a:rPr lang="es-ES" sz="3000" b="1" u="sng" strike="noStrike" spc="-1">
                <a:solidFill>
                  <a:srgbClr val="000000"/>
                </a:solidFill>
                <a:uFillTx/>
                <a:latin typeface="Times New Roman"/>
                <a:ea typeface="DejaVu Sans"/>
              </a:rPr>
              <a:t>Transferencia del derecho (Art. 51 y sucesivos</a:t>
            </a:r>
            <a:r>
              <a:rPr lang="es-ES" sz="3000" b="1" strike="noStrike" spc="-1">
                <a:solidFill>
                  <a:srgbClr val="000000"/>
                </a:solidFill>
                <a:latin typeface="Times New Roman"/>
                <a:ea typeface="DejaVu Sans"/>
              </a:rPr>
              <a:t>):</a:t>
            </a:r>
            <a:endParaRPr lang="es-AR" sz="3000" b="0" strike="noStrike" spc="-1">
              <a:solidFill>
                <a:srgbClr val="000000"/>
              </a:solidFill>
              <a:latin typeface="Arial"/>
            </a:endParaRPr>
          </a:p>
          <a:p>
            <a:pPr>
              <a:lnSpc>
                <a:spcPct val="100000"/>
              </a:lnSpc>
            </a:pPr>
            <a:r>
              <a:rPr lang="es-ES" sz="2600" b="0" u="sng" strike="noStrike" spc="-1">
                <a:solidFill>
                  <a:srgbClr val="000000"/>
                </a:solidFill>
                <a:uFillTx/>
                <a:latin typeface="Times New Roman"/>
                <a:ea typeface="DejaVu Sans"/>
              </a:rPr>
              <a:t>El autor o sus derechohabientes pueden enajenar o ceder total o parcialmente su obra</a:t>
            </a:r>
            <a:r>
              <a:rPr lang="es-ES" sz="2600" b="0" strike="noStrike" spc="-1">
                <a:solidFill>
                  <a:srgbClr val="000000"/>
                </a:solidFill>
                <a:latin typeface="Times New Roman"/>
                <a:ea typeface="DejaVu Sans"/>
              </a:rPr>
              <a:t>. La validez es por el plazo que determina la ley y el adquirente no puede alterar su título, forma y contenido</a:t>
            </a:r>
            <a:endParaRPr lang="es-AR" sz="2600" b="0" strike="noStrike" spc="-1">
              <a:solidFill>
                <a:srgbClr val="000000"/>
              </a:solidFill>
              <a:latin typeface="Arial"/>
            </a:endParaRPr>
          </a:p>
          <a:p>
            <a:pPr>
              <a:lnSpc>
                <a:spcPct val="100000"/>
              </a:lnSpc>
            </a:pPr>
            <a:r>
              <a:rPr lang="es-ES" sz="2600" b="0" u="sng" strike="noStrike" spc="-1">
                <a:solidFill>
                  <a:srgbClr val="000000"/>
                </a:solidFill>
                <a:uFillTx/>
                <a:latin typeface="Times New Roman"/>
                <a:ea typeface="DejaVu Sans"/>
              </a:rPr>
              <a:t>El autor conserva el derecho a exigir fidelidad de su título y texto y la mención de su nombre </a:t>
            </a:r>
            <a:endParaRPr lang="es-AR" sz="2600" b="0" strike="noStrike" spc="-1">
              <a:solidFill>
                <a:srgbClr val="000000"/>
              </a:solidFill>
              <a:latin typeface="Arial"/>
            </a:endParaRPr>
          </a:p>
          <a:p>
            <a:pPr>
              <a:lnSpc>
                <a:spcPct val="100000"/>
              </a:lnSpc>
            </a:pPr>
            <a:r>
              <a:rPr lang="es-ES" sz="2600" b="0" strike="noStrike" spc="-1">
                <a:solidFill>
                  <a:srgbClr val="000000"/>
                </a:solidFill>
                <a:latin typeface="Times New Roman"/>
                <a:ea typeface="DejaVu Sans"/>
              </a:rPr>
              <a:t>Debe registrarse en el Registro Nacional de la Propiedad Intelectual</a:t>
            </a:r>
            <a:r>
              <a:rPr lang="es-ES" sz="2800" b="0" strike="noStrike" spc="-1">
                <a:solidFill>
                  <a:srgbClr val="000000"/>
                </a:solidFill>
                <a:latin typeface="Arial"/>
                <a:ea typeface="DejaVu Sans"/>
              </a:rPr>
              <a:t> </a:t>
            </a:r>
            <a:endParaRPr lang="es-AR" sz="2800" b="0" strike="noStrike" spc="-1">
              <a:solidFill>
                <a:srgbClr val="000000"/>
              </a:solidFill>
              <a:latin typeface="Arial"/>
            </a:endParaRPr>
          </a:p>
          <a:p>
            <a:pPr>
              <a:lnSpc>
                <a:spcPct val="100000"/>
              </a:lnSpc>
            </a:pPr>
            <a:r>
              <a:rPr lang="es-ES" sz="2600" b="0" strike="noStrike" spc="-1">
                <a:solidFill>
                  <a:srgbClr val="000000"/>
                </a:solidFill>
                <a:latin typeface="Times New Roman"/>
                <a:ea typeface="DejaVu Sans"/>
              </a:rPr>
              <a:t>*Art. 55 bis — La explotación de la propiedad intelectual sobre los programas de computación incluirá entre otras formas los contratos de licencia para su uso o reproducción.</a:t>
            </a:r>
            <a:endParaRPr lang="es-AR" sz="2600" b="0" strike="noStrike" spc="-1">
              <a:solidFill>
                <a:srgbClr val="000000"/>
              </a:solidFill>
              <a:latin typeface="Arial"/>
            </a:endParaRPr>
          </a:p>
          <a:p>
            <a:pPr>
              <a:lnSpc>
                <a:spcPct val="100000"/>
              </a:lnSpc>
            </a:pPr>
            <a:r>
              <a:rPr lang="es-ES" sz="2000" b="0" strike="noStrike" spc="-1">
                <a:solidFill>
                  <a:srgbClr val="000000"/>
                </a:solidFill>
                <a:latin typeface="Times New Roman"/>
                <a:ea typeface="DejaVu Sans"/>
              </a:rPr>
              <a:t>(Artículo incorporado por art. 4° de la Ley N° 25.036 B.O. 11/11/1998).</a:t>
            </a:r>
            <a:endParaRPr lang="es-AR" sz="2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 Box 2"/>
          <p:cNvSpPr/>
          <p:nvPr/>
        </p:nvSpPr>
        <p:spPr>
          <a:xfrm>
            <a:off x="376200" y="65160"/>
            <a:ext cx="8587440" cy="56354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2800" b="0" u="sng" strike="noStrike" spc="-1">
                <a:solidFill>
                  <a:srgbClr val="000000"/>
                </a:solidFill>
                <a:uFillTx/>
                <a:latin typeface="Times New Roman"/>
                <a:ea typeface="DejaVu Sans"/>
              </a:rPr>
              <a:t>Decreto 165/94</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Objeto de la norma</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a:t>
            </a:r>
            <a:r>
              <a:rPr lang="es-ES" sz="2800" b="0" u="sng" strike="noStrike" spc="-1">
                <a:solidFill>
                  <a:srgbClr val="000000"/>
                </a:solidFill>
                <a:uFillTx/>
                <a:latin typeface="Times New Roman"/>
                <a:ea typeface="DejaVu Sans"/>
              </a:rPr>
              <a:t>*Obras de Software</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Diseño</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Programa de computación</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Documentación técnica</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a:t>
            </a:r>
            <a:r>
              <a:rPr lang="es-ES" sz="2800" b="0" u="sng" strike="noStrike" spc="-1">
                <a:solidFill>
                  <a:srgbClr val="000000"/>
                </a:solidFill>
                <a:uFillTx/>
                <a:latin typeface="Times New Roman"/>
                <a:ea typeface="DejaVu Sans"/>
              </a:rPr>
              <a:t>*Obras de Base de Datos</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Conjunto de datos interrelacionados</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Almacenamiento y reproducción de datos</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Técnicas y sistemas informáticos</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Procedimientos de reproducción</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Obra Publicada: Carácter - Registración</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Obra Inédita: Carácter - Registración </a:t>
            </a: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ext Box 2"/>
          <p:cNvSpPr/>
          <p:nvPr/>
        </p:nvSpPr>
        <p:spPr>
          <a:xfrm>
            <a:off x="395280" y="333360"/>
            <a:ext cx="8515800" cy="5208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800" b="1" strike="noStrike" spc="-1">
                <a:solidFill>
                  <a:srgbClr val="000000"/>
                </a:solidFill>
                <a:latin typeface="Times New Roman"/>
                <a:ea typeface="DejaVu Sans"/>
              </a:rPr>
              <a:t>*</a:t>
            </a:r>
            <a:r>
              <a:rPr lang="es-ES" sz="2800" b="1" u="sng" strike="noStrike" spc="-1">
                <a:solidFill>
                  <a:srgbClr val="000000"/>
                </a:solidFill>
                <a:uFillTx/>
                <a:latin typeface="Times New Roman"/>
                <a:ea typeface="DejaVu Sans"/>
              </a:rPr>
              <a:t>Art.1</a:t>
            </a:r>
            <a:r>
              <a:rPr lang="es-ES" sz="2800" b="0" u="sng" strike="noStrike" spc="-1">
                <a:solidFill>
                  <a:srgbClr val="000000"/>
                </a:solidFill>
                <a:uFillTx/>
                <a:latin typeface="Times New Roman"/>
                <a:ea typeface="DejaVu Sans"/>
              </a:rPr>
              <a:t>º</a:t>
            </a:r>
            <a:r>
              <a:rPr lang="es-ES" sz="2800" b="0" strike="noStrike" spc="-1">
                <a:solidFill>
                  <a:srgbClr val="000000"/>
                </a:solidFill>
                <a:latin typeface="Times New Roman"/>
                <a:ea typeface="DejaVu Sans"/>
              </a:rPr>
              <a:t> – A los efectos de la aplicación del presente decreto y de la demás normativa vigente en la materia: </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a)</a:t>
            </a:r>
            <a:r>
              <a:rPr lang="es-ES" sz="2800" b="0" u="sng" strike="noStrike" spc="-1">
                <a:solidFill>
                  <a:srgbClr val="000000"/>
                </a:solidFill>
                <a:uFillTx/>
                <a:latin typeface="Times New Roman"/>
                <a:ea typeface="DejaVu Sans"/>
              </a:rPr>
              <a:t> Se entenderá por obras de software a</a:t>
            </a:r>
            <a:r>
              <a:rPr lang="es-ES" sz="2800" b="0" strike="noStrike" spc="-1">
                <a:solidFill>
                  <a:srgbClr val="000000"/>
                </a:solidFill>
                <a:latin typeface="Times New Roman"/>
                <a:ea typeface="DejaVu Sans"/>
              </a:rPr>
              <a:t> las producciones constituidas por una o varias de las siguientes expresiones: </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I. </a:t>
            </a:r>
            <a:r>
              <a:rPr lang="es-ES" sz="2800" b="0" u="sng" strike="noStrike" spc="-1">
                <a:solidFill>
                  <a:srgbClr val="000000"/>
                </a:solidFill>
                <a:uFillTx/>
                <a:latin typeface="Times New Roman"/>
                <a:ea typeface="DejaVu Sans"/>
              </a:rPr>
              <a:t>Los diseños</a:t>
            </a:r>
            <a:r>
              <a:rPr lang="es-ES" sz="2800" b="0" strike="noStrike" spc="-1">
                <a:solidFill>
                  <a:srgbClr val="000000"/>
                </a:solidFill>
                <a:latin typeface="Times New Roman"/>
                <a:ea typeface="DejaVu Sans"/>
              </a:rPr>
              <a:t>, tanto generales como detallados, </a:t>
            </a:r>
            <a:r>
              <a:rPr lang="es-ES" sz="2800" b="0" u="sng" strike="noStrike" spc="-1">
                <a:solidFill>
                  <a:srgbClr val="000000"/>
                </a:solidFill>
                <a:uFillTx/>
                <a:latin typeface="Times New Roman"/>
                <a:ea typeface="DejaVu Sans"/>
              </a:rPr>
              <a:t>del flujo lógico de los datos en un sistema de computación; </a:t>
            </a:r>
            <a:endParaRPr lang="es-AR" sz="2800" b="0" strike="noStrike" spc="-1">
              <a:solidFill>
                <a:srgbClr val="000000"/>
              </a:solidFill>
              <a:latin typeface="Arial"/>
            </a:endParaRPr>
          </a:p>
          <a:p>
            <a:pPr>
              <a:lnSpc>
                <a:spcPct val="100000"/>
              </a:lnSpc>
            </a:pPr>
            <a:r>
              <a:rPr lang="es-ES" sz="2800" b="0" u="sng" strike="noStrike" spc="-1">
                <a:solidFill>
                  <a:srgbClr val="000000"/>
                </a:solidFill>
                <a:uFillTx/>
                <a:latin typeface="Times New Roman"/>
                <a:ea typeface="DejaVu Sans"/>
              </a:rPr>
              <a:t>II. Los programas de computación, tanto en su versión "fuente", como en su versión "objeto” </a:t>
            </a:r>
            <a:endParaRPr lang="es-AR" sz="2800" b="0" strike="noStrike" spc="-1">
              <a:solidFill>
                <a:srgbClr val="000000"/>
              </a:solidFill>
              <a:latin typeface="Arial"/>
            </a:endParaRPr>
          </a:p>
          <a:p>
            <a:pPr>
              <a:lnSpc>
                <a:spcPct val="100000"/>
              </a:lnSpc>
            </a:pPr>
            <a:r>
              <a:rPr lang="es-ES" sz="2800" b="0" u="sng" strike="noStrike" spc="-1">
                <a:solidFill>
                  <a:srgbClr val="000000"/>
                </a:solidFill>
                <a:uFillTx/>
                <a:latin typeface="Times New Roman"/>
                <a:ea typeface="DejaVu Sans"/>
              </a:rPr>
              <a:t>III. La documentación técnica</a:t>
            </a:r>
            <a:r>
              <a:rPr lang="es-ES" sz="2800" b="0" strike="noStrike" spc="-1">
                <a:solidFill>
                  <a:srgbClr val="000000"/>
                </a:solidFill>
                <a:latin typeface="Times New Roman"/>
                <a:ea typeface="DejaVu Sans"/>
              </a:rPr>
              <a:t>, con fines tales como explicación, soporte o entrenamiento, para el desarrollo, uso o mantenimiento de software. </a:t>
            </a: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 Box 2"/>
          <p:cNvSpPr/>
          <p:nvPr/>
        </p:nvSpPr>
        <p:spPr>
          <a:xfrm>
            <a:off x="324000" y="189000"/>
            <a:ext cx="8587440" cy="56354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800" b="0" strike="noStrike" spc="-1">
                <a:solidFill>
                  <a:srgbClr val="000000"/>
                </a:solidFill>
                <a:latin typeface="Times New Roman"/>
                <a:ea typeface="DejaVu Sans"/>
              </a:rPr>
              <a:t>* </a:t>
            </a:r>
            <a:r>
              <a:rPr lang="es-ES" sz="2800" b="0" u="sng" strike="noStrike" spc="-1">
                <a:solidFill>
                  <a:srgbClr val="000000"/>
                </a:solidFill>
                <a:uFillTx/>
                <a:latin typeface="Times New Roman"/>
                <a:ea typeface="DejaVu Sans"/>
              </a:rPr>
              <a:t>(Art.1º)</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b)</a:t>
            </a:r>
            <a:r>
              <a:rPr lang="es-ES" sz="2800" b="0" u="sng" strike="noStrike" spc="-1">
                <a:solidFill>
                  <a:srgbClr val="000000"/>
                </a:solidFill>
                <a:uFillTx/>
                <a:latin typeface="Times New Roman"/>
                <a:ea typeface="DejaVu Sans"/>
              </a:rPr>
              <a:t> Se entenderá por obras de base de datos (B/D), </a:t>
            </a:r>
            <a:r>
              <a:rPr lang="es-ES" sz="2800" b="0" strike="noStrike" spc="-1">
                <a:solidFill>
                  <a:srgbClr val="000000"/>
                </a:solidFill>
                <a:latin typeface="Times New Roman"/>
                <a:ea typeface="DejaVu Sans"/>
              </a:rPr>
              <a:t>incluidas en la categoría de obras literarias, </a:t>
            </a:r>
            <a:r>
              <a:rPr lang="es-ES" sz="2800" b="0" u="sng" strike="noStrike" spc="-1">
                <a:solidFill>
                  <a:srgbClr val="000000"/>
                </a:solidFill>
                <a:uFillTx/>
                <a:latin typeface="Times New Roman"/>
                <a:ea typeface="DejaVu Sans"/>
              </a:rPr>
              <a:t>a las producciones constituidas por un conjunto organizado de datos interrelacionados, compilado con miras a su almacenamiento, procesamiento y recuperación mediante </a:t>
            </a:r>
            <a:r>
              <a:rPr lang="es-ES" sz="2800" b="0" strike="noStrike" spc="-1">
                <a:solidFill>
                  <a:srgbClr val="000000"/>
                </a:solidFill>
                <a:latin typeface="Times New Roman"/>
                <a:ea typeface="DejaVu Sans"/>
              </a:rPr>
              <a:t>técnicas y </a:t>
            </a:r>
            <a:r>
              <a:rPr lang="es-ES" sz="2800" b="0" u="sng" strike="noStrike" spc="-1">
                <a:solidFill>
                  <a:srgbClr val="000000"/>
                </a:solidFill>
                <a:uFillTx/>
                <a:latin typeface="Times New Roman"/>
                <a:ea typeface="DejaVu Sans"/>
              </a:rPr>
              <a:t>sistemas informáticos. </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c) Procedimientos idóneos para reproducir obras de software o de B/D son los escritos o diagramas perceptibles por los sentidos humanos, así como los registros realizados mediante cualquier técnica, directa o indirectamente procesables por equipos de procesamiento de información. </a:t>
            </a: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 Box 2"/>
          <p:cNvSpPr/>
          <p:nvPr/>
        </p:nvSpPr>
        <p:spPr>
          <a:xfrm>
            <a:off x="468360" y="333360"/>
            <a:ext cx="8206200" cy="5208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800" b="0" u="sng" strike="noStrike" spc="-1">
                <a:solidFill>
                  <a:srgbClr val="000000"/>
                </a:solidFill>
                <a:uFillTx/>
                <a:latin typeface="Times New Roman"/>
                <a:ea typeface="DejaVu Sans"/>
              </a:rPr>
              <a:t>*(Art.1º)</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d) Publicación de software o B/D: cuando ha sido puesta a disposición del público en general, ya sea mediante su reproducción sobre múltiples ejemplares distribuidos comercialmente o mediante la oferta generalizada de su transmisión a distancia con fines de explotación. </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e) Obra de software o B/D inédita, cuando su autor, titular o derechohabiente la mantiene en reserva o negocia la cesión de sus derechos de propiedad intelectual contratando particularmente con los interesados. </a:t>
            </a: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2"/>
          <p:cNvSpPr/>
          <p:nvPr/>
        </p:nvSpPr>
        <p:spPr>
          <a:xfrm>
            <a:off x="611280" y="456120"/>
            <a:ext cx="8136360" cy="585000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ES" sz="2700" b="1" strike="noStrike" spc="-1">
                <a:solidFill>
                  <a:srgbClr val="000000"/>
                </a:solidFill>
                <a:latin typeface="Times New Roman"/>
                <a:ea typeface="DejaVu Sans"/>
              </a:rPr>
              <a:t>Art. 2º</a:t>
            </a:r>
            <a:r>
              <a:rPr lang="es-ES" sz="2700" b="0" strike="noStrike" spc="-1">
                <a:solidFill>
                  <a:srgbClr val="000000"/>
                </a:solidFill>
                <a:latin typeface="Times New Roman"/>
                <a:ea typeface="DejaVu Sans"/>
              </a:rPr>
              <a:t> – Para proceder al registro de obras de base de datos publicadas, cuya explotación se realice mediante su transmisión a distancia, se depositarán amplios extractos de su contenido y relación escrita de su estructura y organización, así como de sus principales características, que permitan a criterio y riesgo del solicitante individualizar suficientemente la obra y dar la noción más fiel posible de su contenido. </a:t>
            </a:r>
            <a:endParaRPr lang="es-AR" sz="2700" b="0" strike="noStrike" spc="-1">
              <a:solidFill>
                <a:srgbClr val="000000"/>
              </a:solidFill>
              <a:latin typeface="Arial"/>
            </a:endParaRPr>
          </a:p>
          <a:p>
            <a:pPr>
              <a:lnSpc>
                <a:spcPct val="100000"/>
              </a:lnSpc>
            </a:pPr>
            <a:r>
              <a:rPr lang="es-ES" sz="2700" b="1" strike="noStrike" spc="-1">
                <a:solidFill>
                  <a:srgbClr val="000000"/>
                </a:solidFill>
                <a:latin typeface="Times New Roman"/>
                <a:ea typeface="DejaVu Sans"/>
              </a:rPr>
              <a:t>*</a:t>
            </a:r>
            <a:r>
              <a:rPr lang="es-ES" sz="2700" b="1" u="sng" strike="noStrike" spc="-1">
                <a:solidFill>
                  <a:srgbClr val="000000"/>
                </a:solidFill>
                <a:uFillTx/>
                <a:latin typeface="Times New Roman"/>
                <a:ea typeface="DejaVu Sans"/>
              </a:rPr>
              <a:t>Art. 3º</a:t>
            </a:r>
            <a:r>
              <a:rPr lang="es-ES" sz="2700" b="0" u="sng" strike="noStrike" spc="-1">
                <a:solidFill>
                  <a:srgbClr val="000000"/>
                </a:solidFill>
                <a:uFillTx/>
                <a:latin typeface="Times New Roman"/>
                <a:ea typeface="DejaVu Sans"/>
              </a:rPr>
              <a:t> </a:t>
            </a:r>
            <a:r>
              <a:rPr lang="es-ES" sz="2700" b="0" strike="noStrike" spc="-1">
                <a:solidFill>
                  <a:srgbClr val="000000"/>
                </a:solidFill>
                <a:latin typeface="Times New Roman"/>
                <a:ea typeface="DejaVu Sans"/>
              </a:rPr>
              <a:t>– Para proceder al registro de obras de software o de base de datos que tengan el carácter de inéditas, el solicitante incluirá bajo sobre lacrado y firmado todas las expresiones de la obra que juzgue convenientes y suficientes para identificar su creación y garantizar la reserva de su información secreta. </a:t>
            </a:r>
            <a:endParaRPr lang="es-AR" sz="27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Text Box 2"/>
          <p:cNvSpPr/>
          <p:nvPr/>
        </p:nvSpPr>
        <p:spPr>
          <a:xfrm>
            <a:off x="324000" y="260280"/>
            <a:ext cx="8660160" cy="514692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3600" b="0" strike="noStrike" spc="-1">
                <a:solidFill>
                  <a:srgbClr val="000000"/>
                </a:solidFill>
                <a:latin typeface="Times New Roman"/>
                <a:ea typeface="DejaVu Sans"/>
              </a:rPr>
              <a:t>Patentes de Invención y Modelos de Utilidad</a:t>
            </a:r>
            <a:endParaRPr lang="es-AR" sz="3600" b="0" strike="noStrike" spc="-1">
              <a:solidFill>
                <a:srgbClr val="000000"/>
              </a:solidFill>
              <a:latin typeface="Arial"/>
            </a:endParaRPr>
          </a:p>
          <a:p>
            <a:pPr>
              <a:lnSpc>
                <a:spcPct val="100000"/>
              </a:lnSpc>
            </a:pPr>
            <a:r>
              <a:rPr lang="es-ES" sz="800" b="1" strike="noStrike" spc="-1">
                <a:solidFill>
                  <a:srgbClr val="000000"/>
                </a:solidFill>
                <a:latin typeface="Times New Roman"/>
                <a:ea typeface="DejaVu Sans"/>
              </a:rPr>
              <a:t>___________________________________________________________________________________________________________________________________________________________________</a:t>
            </a:r>
            <a:endParaRPr lang="es-AR" sz="8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Soporte normativo Ley 24.481 y modificatorias</a:t>
            </a:r>
            <a:endParaRPr lang="es-AR" sz="32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Decreto 260/96</a:t>
            </a:r>
            <a:endParaRPr lang="es-AR" sz="32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Concepto de Invención</a:t>
            </a:r>
            <a:endParaRPr lang="es-AR" sz="32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	Creaciones no posibles de patentamiento</a:t>
            </a:r>
            <a:endParaRPr lang="es-AR" sz="32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	Creaciones no consideradas invenciones</a:t>
            </a:r>
            <a:endParaRPr lang="es-AR" sz="32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	Derechos que otorga la norma</a:t>
            </a:r>
            <a:endParaRPr lang="es-AR" sz="32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	Vigencia y caducidad de los derechos</a:t>
            </a:r>
            <a:endParaRPr lang="es-AR" sz="3200" b="0" strike="noStrike" spc="-1">
              <a:solidFill>
                <a:srgbClr val="000000"/>
              </a:solidFill>
              <a:latin typeface="Arial"/>
            </a:endParaRPr>
          </a:p>
          <a:p>
            <a:pPr>
              <a:lnSpc>
                <a:spcPct val="100000"/>
              </a:lnSpc>
            </a:pPr>
            <a:endParaRPr lang="es-AR" sz="3200" b="0" strike="noStrike" spc="-1">
              <a:solidFill>
                <a:srgbClr val="000000"/>
              </a:solidFill>
              <a:latin typeface="Arial"/>
            </a:endParaRPr>
          </a:p>
          <a:p>
            <a:pPr>
              <a:lnSpc>
                <a:spcPct val="100000"/>
              </a:lnSpc>
            </a:pPr>
            <a:r>
              <a:rPr lang="es-ES" sz="3200" b="0" strike="noStrike" spc="-1">
                <a:solidFill>
                  <a:srgbClr val="000000"/>
                </a:solidFill>
                <a:latin typeface="Times New Roman"/>
                <a:ea typeface="DejaVu Sans"/>
              </a:rPr>
              <a:t>Concepto de Modelo de Utilidad </a:t>
            </a:r>
            <a:endParaRPr lang="es-AR" sz="3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 Box 2"/>
          <p:cNvSpPr/>
          <p:nvPr/>
        </p:nvSpPr>
        <p:spPr>
          <a:xfrm>
            <a:off x="313560" y="366480"/>
            <a:ext cx="8515800" cy="35031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800" b="1" strike="noStrike" spc="-1">
                <a:solidFill>
                  <a:srgbClr val="000000"/>
                </a:solidFill>
                <a:latin typeface="Times New Roman"/>
                <a:ea typeface="DejaVu Sans"/>
              </a:rPr>
              <a:t>¿Qué es una patente?</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 </a:t>
            </a:r>
            <a:r>
              <a:rPr lang="es-MX" sz="2800" b="0" strike="noStrike" spc="-1">
                <a:solidFill>
                  <a:srgbClr val="000000"/>
                </a:solidFill>
                <a:latin typeface="Times New Roman"/>
                <a:ea typeface="DejaVu Sans"/>
              </a:rPr>
              <a:t>E</a:t>
            </a:r>
            <a:r>
              <a:rPr lang="es-ES" sz="2800" b="0" strike="noStrike" spc="-1">
                <a:solidFill>
                  <a:srgbClr val="000000"/>
                </a:solidFill>
                <a:latin typeface="Times New Roman"/>
                <a:ea typeface="DejaVu Sans"/>
              </a:rPr>
              <a:t>s un </a:t>
            </a:r>
            <a:r>
              <a:rPr lang="es-ES" sz="2800" b="0" u="sng" strike="noStrike" spc="-1">
                <a:solidFill>
                  <a:srgbClr val="000000"/>
                </a:solidFill>
                <a:uFillTx/>
                <a:latin typeface="Times New Roman"/>
                <a:ea typeface="DejaVu Sans"/>
              </a:rPr>
              <a:t>derecho exclusivo que el Estado otorga al inventor, a cambio de que éste brinde a la sociedad el fruto de su investigación.</a:t>
            </a:r>
            <a:endParaRPr lang="es-AR" sz="2800" b="0" strike="noStrike" spc="-1">
              <a:solidFill>
                <a:srgbClr val="000000"/>
              </a:solidFill>
              <a:latin typeface="Arial"/>
            </a:endParaRPr>
          </a:p>
          <a:p>
            <a:pPr>
              <a:lnSpc>
                <a:spcPct val="100000"/>
              </a:lnSpc>
            </a:pPr>
            <a:r>
              <a:rPr lang="es-MX" sz="2800" b="0" u="sng" strike="noStrike" spc="-1">
                <a:solidFill>
                  <a:srgbClr val="000000"/>
                </a:solidFill>
                <a:uFillTx/>
                <a:latin typeface="Times New Roman"/>
                <a:ea typeface="DejaVu Sans"/>
              </a:rPr>
              <a:t> Es un bien intangible. La</a:t>
            </a:r>
            <a:r>
              <a:rPr lang="es-MX" sz="2800" b="0" strike="noStrike" spc="-1">
                <a:solidFill>
                  <a:srgbClr val="000000"/>
                </a:solidFill>
                <a:latin typeface="Times New Roman"/>
                <a:ea typeface="DejaVu Sans"/>
              </a:rPr>
              <a:t> patente </a:t>
            </a:r>
            <a:r>
              <a:rPr lang="es-MX" sz="2800" b="0" u="sng" strike="noStrike" spc="-1">
                <a:solidFill>
                  <a:srgbClr val="000000"/>
                </a:solidFill>
                <a:uFillTx/>
                <a:latin typeface="Times New Roman"/>
                <a:ea typeface="DejaVu Sans"/>
              </a:rPr>
              <a:t>se puede transferir </a:t>
            </a:r>
            <a:r>
              <a:rPr lang="es-MX" sz="2800" b="0" strike="noStrike" spc="-1">
                <a:solidFill>
                  <a:srgbClr val="000000"/>
                </a:solidFill>
                <a:latin typeface="Times New Roman"/>
                <a:ea typeface="DejaVu Sans"/>
              </a:rPr>
              <a:t>siendo vendida, heredada o incluso cedida a título gratuito.</a:t>
            </a:r>
            <a:endParaRPr lang="es-AR" sz="2800" b="0" strike="noStrike" spc="-1">
              <a:solidFill>
                <a:srgbClr val="000000"/>
              </a:solidFill>
              <a:latin typeface="Arial"/>
            </a:endParaRPr>
          </a:p>
          <a:p>
            <a:pPr>
              <a:lnSpc>
                <a:spcPct val="100000"/>
              </a:lnSpc>
            </a:pPr>
            <a:r>
              <a:rPr lang="es-MX" sz="2800" b="0" u="sng" strike="noStrike" spc="-1">
                <a:solidFill>
                  <a:srgbClr val="000000"/>
                </a:solidFill>
                <a:uFillTx/>
                <a:latin typeface="Times New Roman"/>
                <a:ea typeface="DejaVu Sans"/>
              </a:rPr>
              <a:t>Tipos: de procesos o de productos.</a:t>
            </a:r>
            <a:endParaRPr lang="es-AR" sz="2800" b="0" strike="noStrike" spc="-1">
              <a:solidFill>
                <a:srgbClr val="000000"/>
              </a:solidFill>
              <a:latin typeface="Arial"/>
            </a:endParaRPr>
          </a:p>
        </p:txBody>
      </p:sp>
      <p:pic>
        <p:nvPicPr>
          <p:cNvPr id="119" name="Imagen 118"/>
          <p:cNvPicPr/>
          <p:nvPr/>
        </p:nvPicPr>
        <p:blipFill>
          <a:blip r:embed="rId2"/>
          <a:stretch/>
        </p:blipFill>
        <p:spPr>
          <a:xfrm>
            <a:off x="313560" y="3869640"/>
            <a:ext cx="2409480" cy="1607400"/>
          </a:xfrm>
          <a:prstGeom prst="rect">
            <a:avLst/>
          </a:prstGeom>
          <a:ln w="0">
            <a:noFill/>
          </a:ln>
        </p:spPr>
      </p:pic>
      <p:pic>
        <p:nvPicPr>
          <p:cNvPr id="120" name="Imagen 119"/>
          <p:cNvPicPr/>
          <p:nvPr/>
        </p:nvPicPr>
        <p:blipFill>
          <a:blip r:embed="rId3"/>
          <a:stretch/>
        </p:blipFill>
        <p:spPr>
          <a:xfrm>
            <a:off x="3583440" y="3869640"/>
            <a:ext cx="2151000" cy="1580040"/>
          </a:xfrm>
          <a:prstGeom prst="rect">
            <a:avLst/>
          </a:prstGeom>
          <a:ln w="0">
            <a:noFill/>
          </a:ln>
        </p:spPr>
      </p:pic>
      <p:pic>
        <p:nvPicPr>
          <p:cNvPr id="121" name="Imagen 120"/>
          <p:cNvPicPr/>
          <p:nvPr/>
        </p:nvPicPr>
        <p:blipFill>
          <a:blip r:embed="rId4"/>
          <a:stretch/>
        </p:blipFill>
        <p:spPr>
          <a:xfrm>
            <a:off x="6452640" y="3426480"/>
            <a:ext cx="1816560" cy="1672560"/>
          </a:xfrm>
          <a:prstGeom prst="rect">
            <a:avLst/>
          </a:prstGeom>
          <a:ln w="0">
            <a:noFill/>
          </a:ln>
        </p:spPr>
      </p:pic>
      <p:pic>
        <p:nvPicPr>
          <p:cNvPr id="122" name="Imagen 121"/>
          <p:cNvPicPr/>
          <p:nvPr/>
        </p:nvPicPr>
        <p:blipFill>
          <a:blip r:embed="rId5"/>
          <a:stretch/>
        </p:blipFill>
        <p:spPr>
          <a:xfrm>
            <a:off x="291240" y="5596200"/>
            <a:ext cx="2476440" cy="1190520"/>
          </a:xfrm>
          <a:prstGeom prst="rect">
            <a:avLst/>
          </a:prstGeom>
          <a:ln w="0">
            <a:noFill/>
          </a:ln>
        </p:spPr>
      </p:pic>
      <p:pic>
        <p:nvPicPr>
          <p:cNvPr id="123" name="Imagen 122"/>
          <p:cNvPicPr/>
          <p:nvPr/>
        </p:nvPicPr>
        <p:blipFill>
          <a:blip r:embed="rId6"/>
          <a:stretch/>
        </p:blipFill>
        <p:spPr>
          <a:xfrm>
            <a:off x="3557520" y="5542920"/>
            <a:ext cx="2207520" cy="1216800"/>
          </a:xfrm>
          <a:prstGeom prst="rect">
            <a:avLst/>
          </a:prstGeom>
          <a:ln w="0">
            <a:noFill/>
          </a:ln>
        </p:spPr>
      </p:pic>
      <p:pic>
        <p:nvPicPr>
          <p:cNvPr id="124" name="Imagen 123"/>
          <p:cNvPicPr/>
          <p:nvPr/>
        </p:nvPicPr>
        <p:blipFill>
          <a:blip r:embed="rId7"/>
          <a:stretch/>
        </p:blipFill>
        <p:spPr>
          <a:xfrm>
            <a:off x="6457320" y="5278680"/>
            <a:ext cx="1924200" cy="144144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ext Box 2"/>
          <p:cNvSpPr/>
          <p:nvPr/>
        </p:nvSpPr>
        <p:spPr>
          <a:xfrm>
            <a:off x="879480" y="289800"/>
            <a:ext cx="8587440" cy="62121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3000" b="1" strike="noStrike" spc="-1">
                <a:solidFill>
                  <a:srgbClr val="000000"/>
                </a:solidFill>
                <a:latin typeface="Times New Roman"/>
                <a:ea typeface="DejaVu Sans"/>
              </a:rPr>
              <a:t>¿Para qué sirve?</a:t>
            </a:r>
            <a:endParaRPr lang="es-AR" sz="3000" b="0" strike="noStrike" spc="-1">
              <a:solidFill>
                <a:srgbClr val="000000"/>
              </a:solidFill>
              <a:latin typeface="Arial"/>
            </a:endParaRPr>
          </a:p>
          <a:p>
            <a:pPr>
              <a:lnSpc>
                <a:spcPct val="100000"/>
              </a:lnSpc>
            </a:pPr>
            <a:r>
              <a:rPr lang="es-ES" sz="3000" b="0" strike="noStrike" spc="-1">
                <a:solidFill>
                  <a:srgbClr val="000000"/>
                </a:solidFill>
                <a:latin typeface="Times New Roman"/>
                <a:ea typeface="DejaVu Sans"/>
              </a:rPr>
              <a:t>P</a:t>
            </a:r>
            <a:r>
              <a:rPr lang="es-ES" sz="3000" b="0" u="sng" strike="noStrike" spc="-1">
                <a:solidFill>
                  <a:srgbClr val="000000"/>
                </a:solidFill>
                <a:uFillTx/>
                <a:latin typeface="Times New Roman"/>
                <a:ea typeface="DejaVu Sans"/>
              </a:rPr>
              <a:t>ara ejercer el derecho de exclusividad sobre el invento por el término que le acuerda la Ley pudiendo impedir que terceros sin su consentimiento realicen actos de fabricación, uso, </a:t>
            </a:r>
            <a:r>
              <a:rPr lang="es-ES" sz="3000" b="0" strike="noStrike" spc="-1">
                <a:solidFill>
                  <a:srgbClr val="000000"/>
                </a:solidFill>
                <a:latin typeface="Times New Roman"/>
                <a:ea typeface="DejaVu Sans"/>
              </a:rPr>
              <a:t>oferta para la venta, </a:t>
            </a:r>
            <a:r>
              <a:rPr lang="es-ES" sz="3000" b="0" u="sng" strike="noStrike" spc="-1">
                <a:solidFill>
                  <a:srgbClr val="000000"/>
                </a:solidFill>
                <a:uFillTx/>
                <a:latin typeface="Times New Roman"/>
                <a:ea typeface="DejaVu Sans"/>
              </a:rPr>
              <a:t>venta o importación </a:t>
            </a:r>
            <a:r>
              <a:rPr lang="es-ES" sz="3000" b="0" strike="noStrike" spc="-1">
                <a:solidFill>
                  <a:srgbClr val="000000"/>
                </a:solidFill>
                <a:latin typeface="Times New Roman"/>
                <a:ea typeface="DejaVu Sans"/>
              </a:rPr>
              <a:t>del producto o procedimiento patentado.</a:t>
            </a:r>
            <a:endParaRPr lang="es-AR" sz="3000" b="0" strike="noStrike" spc="-1">
              <a:solidFill>
                <a:srgbClr val="000000"/>
              </a:solidFill>
              <a:latin typeface="Arial"/>
            </a:endParaRPr>
          </a:p>
          <a:p>
            <a:pPr>
              <a:lnSpc>
                <a:spcPct val="100000"/>
              </a:lnSpc>
            </a:pPr>
            <a:r>
              <a:rPr lang="es-MX" sz="3000" b="0" strike="noStrike" spc="-1">
                <a:solidFill>
                  <a:srgbClr val="000000"/>
                </a:solidFill>
                <a:latin typeface="Times New Roman"/>
                <a:ea typeface="DejaVu Sans"/>
              </a:rPr>
              <a:t>Plazo: </a:t>
            </a:r>
            <a:endParaRPr lang="es-AR" sz="3000" b="0" strike="noStrike" spc="-1">
              <a:solidFill>
                <a:srgbClr val="000000"/>
              </a:solidFill>
              <a:latin typeface="Arial"/>
            </a:endParaRPr>
          </a:p>
          <a:p>
            <a:pPr>
              <a:lnSpc>
                <a:spcPct val="100000"/>
              </a:lnSpc>
            </a:pPr>
            <a:r>
              <a:rPr lang="es-MX" sz="3200" b="0" u="sng" strike="noStrike" spc="-1">
                <a:solidFill>
                  <a:srgbClr val="000000"/>
                </a:solidFill>
                <a:uFillTx/>
                <a:latin typeface="Times New Roman"/>
                <a:ea typeface="DejaVu Sans"/>
              </a:rPr>
              <a:t>Duración</a:t>
            </a:r>
            <a:r>
              <a:rPr lang="es-MX" sz="3200" b="0" u="sng" strike="noStrike" spc="-1">
                <a:solidFill>
                  <a:srgbClr val="000000"/>
                </a:solidFill>
                <a:uFillTx/>
                <a:latin typeface="Arial"/>
                <a:ea typeface="DejaVu Sans"/>
              </a:rPr>
              <a:t> </a:t>
            </a:r>
            <a:r>
              <a:rPr lang="es-MX" sz="3200" b="0" u="sng" strike="noStrike" spc="-1">
                <a:solidFill>
                  <a:srgbClr val="000000"/>
                </a:solidFill>
                <a:uFillTx/>
                <a:latin typeface="Times New Roman"/>
                <a:ea typeface="DejaVu Sans"/>
              </a:rPr>
              <a:t>de 20 años</a:t>
            </a:r>
            <a:r>
              <a:rPr lang="es-MX" sz="3200" b="0" strike="noStrike" spc="-1">
                <a:solidFill>
                  <a:srgbClr val="000000"/>
                </a:solidFill>
                <a:latin typeface="Times New Roman"/>
                <a:ea typeface="DejaVu Sans"/>
              </a:rPr>
              <a:t>, durante los cuales el titular puede justamente, impedir que terceros exploten su invención. </a:t>
            </a:r>
            <a:r>
              <a:rPr lang="es-MX" sz="3200" b="0" u="sng" strike="noStrike" spc="-1">
                <a:solidFill>
                  <a:srgbClr val="000000"/>
                </a:solidFill>
                <a:uFillTx/>
                <a:latin typeface="Times New Roman"/>
                <a:ea typeface="DejaVu Sans"/>
              </a:rPr>
              <a:t>Pasado ese lapso, la patente pasa a ser de dominio público,</a:t>
            </a:r>
            <a:r>
              <a:rPr lang="es-MX" sz="3200" b="0" strike="noStrike" spc="-1">
                <a:solidFill>
                  <a:srgbClr val="000000"/>
                </a:solidFill>
                <a:latin typeface="Times New Roman"/>
                <a:ea typeface="DejaVu Sans"/>
              </a:rPr>
              <a:t> ello significa que cualquier persona puede hacer uso de la misma sin tener que abonar regalías al titular de la patente.</a:t>
            </a:r>
            <a:endParaRPr lang="es-AR" sz="3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2"/>
          <p:cNvSpPr/>
          <p:nvPr/>
        </p:nvSpPr>
        <p:spPr>
          <a:xfrm>
            <a:off x="468360" y="-312120"/>
            <a:ext cx="8173080" cy="6914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endParaRPr lang="es-AR" sz="2800" b="0" strike="noStrike" spc="-1">
              <a:solidFill>
                <a:srgbClr val="000000"/>
              </a:solidFill>
              <a:latin typeface="Arial"/>
            </a:endParaRPr>
          </a:p>
          <a:p>
            <a:pPr>
              <a:lnSpc>
                <a:spcPct val="100000"/>
              </a:lnSpc>
            </a:pPr>
            <a:r>
              <a:rPr lang="es-MX" sz="2800" b="1" u="sng" strike="noStrike" spc="-1">
                <a:solidFill>
                  <a:srgbClr val="000000"/>
                </a:solidFill>
                <a:uFillTx/>
                <a:latin typeface="Times New Roman"/>
                <a:ea typeface="DejaVu Sans"/>
              </a:rPr>
              <a:t>Obligacion del titular</a:t>
            </a:r>
            <a:endParaRPr lang="es-AR" sz="2800" b="0" strike="noStrike" spc="-1">
              <a:solidFill>
                <a:srgbClr val="000000"/>
              </a:solidFill>
              <a:latin typeface="Arial"/>
            </a:endParaRPr>
          </a:p>
          <a:p>
            <a:pPr>
              <a:lnSpc>
                <a:spcPct val="100000"/>
              </a:lnSpc>
            </a:pPr>
            <a:r>
              <a:rPr lang="es-MX" sz="2800" b="0" u="sng" strike="noStrike" spc="-1">
                <a:solidFill>
                  <a:srgbClr val="000000"/>
                </a:solidFill>
                <a:uFillTx/>
                <a:latin typeface="Times New Roman"/>
                <a:ea typeface="DejaVu Sans"/>
              </a:rPr>
              <a:t>*Obligación de proveer información</a:t>
            </a:r>
            <a:r>
              <a:rPr lang="es-MX" sz="2800" b="0" strike="noStrike" spc="-1">
                <a:solidFill>
                  <a:srgbClr val="000000"/>
                </a:solidFill>
                <a:latin typeface="Times New Roman"/>
                <a:ea typeface="DejaVu Sans"/>
              </a:rPr>
              <a:t>:</a:t>
            </a:r>
            <a:endParaRPr lang="es-AR" sz="2800" b="0" strike="noStrike" spc="-1">
              <a:solidFill>
                <a:srgbClr val="000000"/>
              </a:solidFill>
              <a:latin typeface="Arial"/>
            </a:endParaRPr>
          </a:p>
          <a:p>
            <a:pPr>
              <a:lnSpc>
                <a:spcPct val="100000"/>
              </a:lnSpc>
            </a:pPr>
            <a:r>
              <a:rPr lang="es-MX" sz="2800" b="0" u="sng" strike="noStrike" spc="-1">
                <a:solidFill>
                  <a:srgbClr val="000000"/>
                </a:solidFill>
                <a:uFillTx/>
                <a:latin typeface="Times New Roman"/>
                <a:ea typeface="DejaVu Sans"/>
              </a:rPr>
              <a:t>Todos los titulares de patentes deben, a cambio de la protección de la patente, publicar información sobre su invención, a fin de enriquecer el cuerpo total de conocimiento técnico del mundo</a:t>
            </a:r>
            <a:r>
              <a:rPr lang="es-MX" sz="2800" b="0" strike="noStrike" spc="-1">
                <a:solidFill>
                  <a:srgbClr val="000000"/>
                </a:solidFill>
                <a:latin typeface="Times New Roman"/>
                <a:ea typeface="DejaVu Sans"/>
              </a:rPr>
              <a:t>. Este creciente volumen de conocimiento público promueve una mayor creatividad e innovación en otras personas.</a:t>
            </a:r>
            <a:endParaRPr lang="es-AR" sz="2800" b="0" strike="noStrike" spc="-1">
              <a:solidFill>
                <a:srgbClr val="000000"/>
              </a:solidFill>
              <a:latin typeface="Arial"/>
            </a:endParaRPr>
          </a:p>
          <a:p>
            <a:pPr>
              <a:lnSpc>
                <a:spcPct val="100000"/>
              </a:lnSpc>
            </a:pPr>
            <a:r>
              <a:rPr lang="es-MX" sz="2800" b="0" strike="noStrike" spc="-1">
                <a:solidFill>
                  <a:srgbClr val="000000"/>
                </a:solidFill>
                <a:latin typeface="Times New Roman"/>
                <a:ea typeface="DejaVu Sans"/>
              </a:rPr>
              <a:t>Así pues, </a:t>
            </a:r>
            <a:r>
              <a:rPr lang="es-MX" sz="2800" b="0" u="sng" strike="noStrike" spc="-1">
                <a:solidFill>
                  <a:srgbClr val="000000"/>
                </a:solidFill>
                <a:uFillTx/>
                <a:latin typeface="Times New Roman"/>
                <a:ea typeface="DejaVu Sans"/>
              </a:rPr>
              <a:t>las patentes proporcionan</a:t>
            </a:r>
            <a:r>
              <a:rPr lang="es-MX" sz="2800" b="0" strike="noStrike" spc="-1">
                <a:solidFill>
                  <a:srgbClr val="000000"/>
                </a:solidFill>
                <a:latin typeface="Times New Roman"/>
                <a:ea typeface="DejaVu Sans"/>
              </a:rPr>
              <a:t> no sólo protección para el titular sino asimismo i</a:t>
            </a:r>
            <a:r>
              <a:rPr lang="es-MX" sz="2800" b="0" u="sng" strike="noStrike" spc="-1">
                <a:solidFill>
                  <a:srgbClr val="000000"/>
                </a:solidFill>
                <a:uFillTx/>
                <a:latin typeface="Times New Roman"/>
                <a:ea typeface="DejaVu Sans"/>
              </a:rPr>
              <a:t>nformación e inspiración valiosa para las futuras generaciones de investigadores e inventores.</a:t>
            </a:r>
            <a:endParaRPr lang="es-AR" sz="2800" b="0" strike="noStrike" spc="-1">
              <a:solidFill>
                <a:srgbClr val="000000"/>
              </a:solidFill>
              <a:latin typeface="Arial"/>
            </a:endParaRPr>
          </a:p>
          <a:p>
            <a:pPr>
              <a:lnSpc>
                <a:spcPct val="100000"/>
              </a:lnSpc>
            </a:pPr>
            <a:r>
              <a:rPr lang="es-MX" sz="2800" b="0" u="sng" strike="noStrike" spc="-1">
                <a:solidFill>
                  <a:srgbClr val="000000"/>
                </a:solidFill>
                <a:uFillTx/>
                <a:latin typeface="Times New Roman"/>
                <a:ea typeface="DejaVu Sans"/>
              </a:rPr>
              <a:t>La solicitud de patente se publica a los 18 meses, dejando de ser secreta</a:t>
            </a:r>
            <a:r>
              <a:rPr lang="es-MX" sz="2800" b="0" strike="noStrike" spc="-1">
                <a:solidFill>
                  <a:srgbClr val="000000"/>
                </a:solidFill>
                <a:latin typeface="Times New Roman"/>
                <a:ea typeface="DejaVu Sans"/>
              </a:rPr>
              <a:t> para pasar al estado de público conocimiento.</a:t>
            </a: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 Box 2"/>
          <p:cNvSpPr/>
          <p:nvPr/>
        </p:nvSpPr>
        <p:spPr>
          <a:xfrm>
            <a:off x="395280" y="189000"/>
            <a:ext cx="8496720" cy="64882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400" b="1" strike="noStrike" spc="-1">
                <a:solidFill>
                  <a:srgbClr val="000000"/>
                </a:solidFill>
                <a:latin typeface="Times New Roman"/>
                <a:ea typeface="DejaVu Sans"/>
              </a:rPr>
              <a:t>*</a:t>
            </a:r>
            <a:r>
              <a:rPr lang="es-MX" sz="2400" b="1" strike="noStrike" spc="-1">
                <a:solidFill>
                  <a:srgbClr val="000000"/>
                </a:solidFill>
                <a:latin typeface="Times New Roman"/>
                <a:ea typeface="DejaVu Sans"/>
              </a:rPr>
              <a:t>Requisitos de Patentabilidad</a:t>
            </a:r>
            <a:endParaRPr lang="es-AR" sz="2400" b="0" strike="noStrike" spc="-1">
              <a:solidFill>
                <a:srgbClr val="000000"/>
              </a:solidFill>
              <a:latin typeface="Arial"/>
            </a:endParaRPr>
          </a:p>
          <a:p>
            <a:pPr>
              <a:lnSpc>
                <a:spcPct val="100000"/>
              </a:lnSpc>
            </a:pPr>
            <a:r>
              <a:rPr lang="es-ES" sz="2200" b="1" u="sng" strike="noStrike" spc="-1">
                <a:solidFill>
                  <a:srgbClr val="000000"/>
                </a:solidFill>
                <a:uFillTx/>
                <a:latin typeface="Times New Roman"/>
                <a:ea typeface="DejaVu Sans"/>
              </a:rPr>
              <a:t>Sí.</a:t>
            </a:r>
            <a:r>
              <a:rPr lang="es-ES" sz="2200" b="0" strike="noStrike" spc="-1">
                <a:solidFill>
                  <a:srgbClr val="000000"/>
                </a:solidFill>
                <a:latin typeface="Times New Roman"/>
                <a:ea typeface="DejaVu Sans"/>
              </a:rPr>
              <a:t> La ley de patentes establece en su art. 4° tres requisitos básicos para que la invención para ser patentable:</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1" u="sng" strike="noStrike" spc="-1">
                <a:solidFill>
                  <a:srgbClr val="000000"/>
                </a:solidFill>
                <a:uFillTx/>
                <a:latin typeface="Times New Roman"/>
                <a:ea typeface="DejaVu Sans"/>
              </a:rPr>
              <a:t>Novedad absoluta</a:t>
            </a:r>
            <a:r>
              <a:rPr lang="es-ES" sz="2200" b="1" strike="noStrike" spc="-1">
                <a:solidFill>
                  <a:srgbClr val="000000"/>
                </a:solidFill>
                <a:latin typeface="Times New Roman"/>
                <a:ea typeface="DejaVu Sans"/>
              </a:rPr>
              <a:t>:</a:t>
            </a:r>
            <a:r>
              <a:rPr lang="es-ES" sz="2200" b="0" strike="noStrike" spc="-1">
                <a:solidFill>
                  <a:srgbClr val="000000"/>
                </a:solidFill>
                <a:latin typeface="Times New Roman"/>
                <a:ea typeface="DejaVu Sans"/>
              </a:rPr>
              <a:t> el objeto a patentar</a:t>
            </a:r>
            <a:r>
              <a:rPr lang="es-ES" sz="2200" b="0" u="sng" strike="noStrike" spc="-1">
                <a:solidFill>
                  <a:srgbClr val="000000"/>
                </a:solidFill>
                <a:uFillTx/>
                <a:latin typeface="Times New Roman"/>
                <a:ea typeface="DejaVu Sans"/>
              </a:rPr>
              <a:t> no debe estar comprendido dentro del estado de la técnica conocido.</a:t>
            </a:r>
            <a:r>
              <a:rPr lang="es-ES" sz="2200" b="0" strike="noStrike" spc="-1">
                <a:solidFill>
                  <a:srgbClr val="000000"/>
                </a:solidFill>
                <a:latin typeface="Times New Roman"/>
                <a:ea typeface="DejaVu Sans"/>
              </a:rPr>
              <a:t> (E. de la T.: conjunto de conocimientos técnicos que se han hecho públicos en el mundo, antes de</a:t>
            </a:r>
            <a:r>
              <a:rPr lang="es-ES" sz="2200" b="0" u="sng" strike="noStrike" spc="-1">
                <a:solidFill>
                  <a:srgbClr val="000000"/>
                </a:solidFill>
                <a:uFillTx/>
                <a:latin typeface="Times New Roman"/>
                <a:ea typeface="DejaVu Sans"/>
              </a:rPr>
              <a:t> la fecha de presentación de la solicitud</a:t>
            </a:r>
            <a:r>
              <a:rPr lang="es-ES" sz="2200" b="0" strike="noStrike" spc="-1">
                <a:solidFill>
                  <a:srgbClr val="000000"/>
                </a:solidFill>
                <a:latin typeface="Times New Roman"/>
                <a:ea typeface="DejaVu Sans"/>
              </a:rPr>
              <a:t> en cuestión).</a:t>
            </a:r>
            <a:endParaRPr lang="es-AR" sz="2200" b="0" strike="noStrike" spc="-1">
              <a:solidFill>
                <a:srgbClr val="000000"/>
              </a:solidFill>
              <a:latin typeface="Arial"/>
            </a:endParaRPr>
          </a:p>
          <a:p>
            <a:pPr>
              <a:lnSpc>
                <a:spcPct val="100000"/>
              </a:lnSpc>
            </a:pPr>
            <a:r>
              <a:rPr lang="es-MX" sz="2200" b="0" strike="noStrike" spc="-1">
                <a:solidFill>
                  <a:srgbClr val="000000"/>
                </a:solidFill>
                <a:latin typeface="Times New Roman"/>
                <a:ea typeface="DejaVu Sans"/>
              </a:rPr>
              <a:t>No afectación: si divulgació</a:t>
            </a:r>
            <a:r>
              <a:rPr lang="es-MX" sz="2200" b="0" u="sng" strike="noStrike" spc="-1">
                <a:solidFill>
                  <a:srgbClr val="000000"/>
                </a:solidFill>
                <a:uFillTx/>
                <a:latin typeface="Times New Roman"/>
                <a:ea typeface="DejaVu Sans"/>
              </a:rPr>
              <a:t>n de la invención por inventor o causahabientes dentro de un año anterior a la  solicitud.</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1" u="sng" strike="noStrike" spc="-1">
                <a:solidFill>
                  <a:srgbClr val="000000"/>
                </a:solidFill>
                <a:uFillTx/>
                <a:latin typeface="Times New Roman"/>
                <a:ea typeface="DejaVu Sans"/>
              </a:rPr>
              <a:t>Actividad inventiva:</a:t>
            </a:r>
            <a:r>
              <a:rPr lang="es-ES" sz="2200" b="0" u="sng" strike="noStrike" spc="-1">
                <a:solidFill>
                  <a:srgbClr val="000000"/>
                </a:solidFill>
                <a:uFillTx/>
                <a:latin typeface="Times New Roman"/>
                <a:ea typeface="DejaVu Sans"/>
              </a:rPr>
              <a:t> cuando el proceso creativo o sus resultados no se deduzcan del estado de la técnica en forma evidente para una persona normalmente versada en la materia.</a:t>
            </a:r>
            <a:r>
              <a:rPr lang="es-ES" sz="2200" b="0" strike="noStrike" spc="-1">
                <a:solidFill>
                  <a:srgbClr val="000000"/>
                </a:solidFill>
                <a:latin typeface="Times New Roman"/>
                <a:ea typeface="DejaVu Sans"/>
              </a:rPr>
              <a:t> Si la invención es una combinación de elementos conocidos con resultado predecible, la misma carece de actividad inventiva pues el resultado es obvio para cualquier persona del oficio de </a:t>
            </a:r>
            <a:r>
              <a:rPr lang="es-ES" sz="2200" b="0" u="sng" strike="noStrike" spc="-1">
                <a:solidFill>
                  <a:srgbClr val="000000"/>
                </a:solidFill>
                <a:uFillTx/>
                <a:latin typeface="Times New Roman"/>
                <a:ea typeface="DejaVu Sans"/>
              </a:rPr>
              <a:t>nivel medio.</a:t>
            </a:r>
            <a:endParaRPr lang="es-AR" sz="2200" b="0" strike="noStrike" spc="-1">
              <a:solidFill>
                <a:srgbClr val="000000"/>
              </a:solidFill>
              <a:latin typeface="Arial"/>
            </a:endParaRPr>
          </a:p>
          <a:p>
            <a:pPr marL="216000" indent="-216000">
              <a:lnSpc>
                <a:spcPct val="100000"/>
              </a:lnSpc>
              <a:buClr>
                <a:srgbClr val="000000"/>
              </a:buClr>
              <a:buFont typeface="Wingdings" charset="2"/>
              <a:buChar char=""/>
            </a:pPr>
            <a:r>
              <a:rPr lang="es-ES" sz="2200" b="1" u="sng" strike="noStrike" spc="-1">
                <a:solidFill>
                  <a:srgbClr val="000000"/>
                </a:solidFill>
                <a:uFillTx/>
                <a:latin typeface="Times New Roman"/>
                <a:ea typeface="DejaVu Sans"/>
              </a:rPr>
              <a:t>Aplicación industrial</a:t>
            </a:r>
            <a:r>
              <a:rPr lang="es-ES" sz="2200" b="1" strike="noStrike" spc="-1">
                <a:solidFill>
                  <a:srgbClr val="000000"/>
                </a:solidFill>
                <a:latin typeface="Times New Roman"/>
                <a:ea typeface="DejaVu Sans"/>
              </a:rPr>
              <a:t>:</a:t>
            </a:r>
            <a:r>
              <a:rPr lang="es-ES" sz="2200" b="0" strike="noStrike" spc="-1">
                <a:solidFill>
                  <a:srgbClr val="000000"/>
                </a:solidFill>
                <a:latin typeface="Times New Roman"/>
                <a:ea typeface="DejaVu Sans"/>
              </a:rPr>
              <a:t> Habrá aplicación industria</a:t>
            </a:r>
            <a:r>
              <a:rPr lang="es-ES" sz="2200" b="0" u="sng" strike="noStrike" spc="-1">
                <a:solidFill>
                  <a:srgbClr val="000000"/>
                </a:solidFill>
                <a:uFillTx/>
                <a:latin typeface="Times New Roman"/>
                <a:ea typeface="DejaVu Sans"/>
              </a:rPr>
              <a:t>l cuando el objeto de la invención conduzca a la obtención de un resultado o de un producto industrial (</a:t>
            </a:r>
            <a:r>
              <a:rPr lang="es-ES" sz="2200" b="0" strike="noStrike" spc="-1">
                <a:solidFill>
                  <a:srgbClr val="000000"/>
                </a:solidFill>
                <a:latin typeface="Times New Roman"/>
                <a:ea typeface="DejaVu Sans"/>
              </a:rPr>
              <a:t>todo aquello susceptible de ser fabricado o aplicado en serie o a escala industrial).</a:t>
            </a:r>
            <a:endParaRPr lang="es-AR" sz="2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 Box 2"/>
          <p:cNvSpPr/>
          <p:nvPr/>
        </p:nvSpPr>
        <p:spPr>
          <a:xfrm>
            <a:off x="482760" y="-2234160"/>
            <a:ext cx="8660160" cy="871380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s-AR" sz="2600" b="0" strike="noStrike" spc="-1">
              <a:solidFill>
                <a:srgbClr val="000000"/>
              </a:solidFill>
              <a:latin typeface="Arial"/>
            </a:endParaRPr>
          </a:p>
          <a:p>
            <a:pPr>
              <a:lnSpc>
                <a:spcPct val="100000"/>
              </a:lnSpc>
            </a:pPr>
            <a:endParaRPr lang="es-AR" sz="2600" b="0" strike="noStrike" spc="-1">
              <a:solidFill>
                <a:srgbClr val="000000"/>
              </a:solidFill>
              <a:latin typeface="Arial"/>
            </a:endParaRPr>
          </a:p>
          <a:p>
            <a:pPr>
              <a:lnSpc>
                <a:spcPct val="100000"/>
              </a:lnSpc>
            </a:pPr>
            <a:endParaRPr lang="es-AR" sz="2600" b="0" strike="noStrike" spc="-1">
              <a:solidFill>
                <a:srgbClr val="000000"/>
              </a:solidFill>
              <a:latin typeface="Arial"/>
            </a:endParaRPr>
          </a:p>
          <a:p>
            <a:pPr>
              <a:lnSpc>
                <a:spcPct val="100000"/>
              </a:lnSpc>
            </a:pPr>
            <a:endParaRPr lang="es-AR" sz="2600" b="0" strike="noStrike" spc="-1">
              <a:solidFill>
                <a:srgbClr val="000000"/>
              </a:solidFill>
              <a:latin typeface="Arial"/>
            </a:endParaRPr>
          </a:p>
          <a:p>
            <a:pPr>
              <a:lnSpc>
                <a:spcPct val="100000"/>
              </a:lnSpc>
            </a:pPr>
            <a:endParaRPr lang="es-AR" sz="2600" b="0" strike="noStrike" spc="-1">
              <a:solidFill>
                <a:srgbClr val="000000"/>
              </a:solidFill>
              <a:latin typeface="Arial"/>
            </a:endParaRPr>
          </a:p>
          <a:p>
            <a:pPr>
              <a:lnSpc>
                <a:spcPct val="100000"/>
              </a:lnSpc>
            </a:pPr>
            <a:endParaRPr lang="es-AR" sz="2600" b="0" strike="noStrike" spc="-1">
              <a:solidFill>
                <a:srgbClr val="000000"/>
              </a:solidFill>
              <a:latin typeface="Arial"/>
            </a:endParaRPr>
          </a:p>
          <a:p>
            <a:pPr>
              <a:lnSpc>
                <a:spcPct val="100000"/>
              </a:lnSpc>
            </a:pPr>
            <a:r>
              <a:rPr lang="es-ES" sz="2600" b="1" strike="noStrike" spc="-1">
                <a:solidFill>
                  <a:srgbClr val="000000"/>
                </a:solidFill>
                <a:latin typeface="Times New Roman"/>
                <a:ea typeface="DejaVu Sans"/>
              </a:rPr>
              <a:t>*</a:t>
            </a:r>
            <a:r>
              <a:rPr lang="es-MX" sz="2600" b="1" strike="noStrike" spc="-1">
                <a:solidFill>
                  <a:srgbClr val="000000"/>
                </a:solidFill>
                <a:latin typeface="Times New Roman"/>
                <a:ea typeface="DejaVu Sans"/>
              </a:rPr>
              <a:t>Invenciones excluidas</a:t>
            </a:r>
            <a:endParaRPr lang="es-AR" sz="2600" b="0" strike="noStrike" spc="-1">
              <a:solidFill>
                <a:srgbClr val="000000"/>
              </a:solidFill>
              <a:latin typeface="Arial"/>
            </a:endParaRPr>
          </a:p>
          <a:p>
            <a:pPr>
              <a:lnSpc>
                <a:spcPct val="100000"/>
              </a:lnSpc>
            </a:pPr>
            <a:endParaRPr lang="es-AR" sz="2400" b="0" strike="noStrike" spc="-1">
              <a:solidFill>
                <a:srgbClr val="000000"/>
              </a:solidFill>
              <a:latin typeface="Arial"/>
            </a:endParaRPr>
          </a:p>
          <a:p>
            <a:pPr>
              <a:lnSpc>
                <a:spcPct val="100000"/>
              </a:lnSpc>
            </a:pPr>
            <a:r>
              <a:rPr lang="es-MX" sz="2400" b="0" strike="noStrike" spc="-1">
                <a:solidFill>
                  <a:srgbClr val="000000"/>
                </a:solidFill>
                <a:latin typeface="Gill Sans"/>
                <a:ea typeface="DejaVu Sans"/>
              </a:rPr>
              <a:t> ARTICULO 6º — No se considerarán invenciones para los efectos de esta ley:</a:t>
            </a:r>
            <a:endParaRPr lang="es-AR" sz="2400" b="0" strike="noStrike" spc="-1">
              <a:solidFill>
                <a:srgbClr val="000000"/>
              </a:solidFill>
              <a:latin typeface="Arial"/>
            </a:endParaRPr>
          </a:p>
          <a:p>
            <a:pPr>
              <a:lnSpc>
                <a:spcPct val="100000"/>
              </a:lnSpc>
            </a:pPr>
            <a:r>
              <a:rPr lang="es-MX" sz="2400" b="0" strike="noStrike" spc="-1">
                <a:solidFill>
                  <a:srgbClr val="000000"/>
                </a:solidFill>
                <a:latin typeface="Gill Sans"/>
                <a:ea typeface="DejaVu Sans"/>
              </a:rPr>
              <a:t>a) </a:t>
            </a:r>
            <a:r>
              <a:rPr lang="es-MX" sz="2400" b="0" u="sng" strike="noStrike" spc="-1">
                <a:solidFill>
                  <a:srgbClr val="000000"/>
                </a:solidFill>
                <a:uFillTx/>
                <a:latin typeface="Gill Sans"/>
                <a:ea typeface="DejaVu Sans"/>
              </a:rPr>
              <a:t>Los descubrimientos, las teorías científicas y los métodos matemáticos;</a:t>
            </a:r>
            <a:endParaRPr lang="es-AR" sz="2400" b="0" strike="noStrike" spc="-1">
              <a:solidFill>
                <a:srgbClr val="000000"/>
              </a:solidFill>
              <a:latin typeface="Arial"/>
            </a:endParaRPr>
          </a:p>
          <a:p>
            <a:pPr>
              <a:lnSpc>
                <a:spcPct val="100000"/>
              </a:lnSpc>
            </a:pPr>
            <a:r>
              <a:rPr lang="es-MX" sz="2400" b="0" strike="noStrike" spc="-1">
                <a:solidFill>
                  <a:srgbClr val="000000"/>
                </a:solidFill>
                <a:latin typeface="Gill Sans"/>
                <a:ea typeface="DejaVu Sans"/>
              </a:rPr>
              <a:t>b) </a:t>
            </a:r>
            <a:r>
              <a:rPr lang="es-MX" sz="2400" b="0" u="sng" strike="noStrike" spc="-1">
                <a:solidFill>
                  <a:srgbClr val="000000"/>
                </a:solidFill>
                <a:uFillTx/>
                <a:latin typeface="Gill Sans"/>
                <a:ea typeface="DejaVu Sans"/>
              </a:rPr>
              <a:t>Las obras literarias o artísticas o</a:t>
            </a:r>
            <a:r>
              <a:rPr lang="es-MX" sz="2400" b="0" strike="noStrike" spc="-1">
                <a:solidFill>
                  <a:srgbClr val="000000"/>
                </a:solidFill>
                <a:latin typeface="Gill Sans"/>
                <a:ea typeface="DejaVu Sans"/>
              </a:rPr>
              <a:t> cualquier otra creación estética, así como las obras </a:t>
            </a:r>
            <a:r>
              <a:rPr lang="es-MX" sz="2400" b="0" u="sng" strike="noStrike" spc="-1">
                <a:solidFill>
                  <a:srgbClr val="000000"/>
                </a:solidFill>
                <a:uFillTx/>
                <a:latin typeface="Gill Sans"/>
                <a:ea typeface="DejaVu Sans"/>
              </a:rPr>
              <a:t>científicas</a:t>
            </a:r>
            <a:r>
              <a:rPr lang="es-MX" sz="2400" b="0" strike="noStrike" spc="-1">
                <a:solidFill>
                  <a:srgbClr val="000000"/>
                </a:solidFill>
                <a:latin typeface="Gill Sans"/>
                <a:ea typeface="DejaVu Sans"/>
              </a:rPr>
              <a:t>;</a:t>
            </a:r>
            <a:endParaRPr lang="es-AR" sz="2400" b="0" strike="noStrike" spc="-1">
              <a:solidFill>
                <a:srgbClr val="000000"/>
              </a:solidFill>
              <a:latin typeface="Arial"/>
            </a:endParaRPr>
          </a:p>
          <a:p>
            <a:pPr>
              <a:lnSpc>
                <a:spcPct val="100000"/>
              </a:lnSpc>
            </a:pPr>
            <a:r>
              <a:rPr lang="es-MX" sz="2400" b="0" strike="noStrike" spc="-1">
                <a:solidFill>
                  <a:srgbClr val="000000"/>
                </a:solidFill>
                <a:latin typeface="Gill Sans"/>
                <a:ea typeface="DejaVu Sans"/>
              </a:rPr>
              <a:t>c) L</a:t>
            </a:r>
            <a:r>
              <a:rPr lang="es-MX" sz="2400" b="0" u="sng" strike="noStrike" spc="-1">
                <a:solidFill>
                  <a:srgbClr val="000000"/>
                </a:solidFill>
                <a:uFillTx/>
                <a:latin typeface="Gill Sans"/>
                <a:ea typeface="DejaVu Sans"/>
              </a:rPr>
              <a:t>os planes, reglas y métodos para el ejercicio de actividades intelectuales, para juegos o para actividades económico-comerciales, así como los programas de computación;</a:t>
            </a:r>
            <a:endParaRPr lang="es-AR" sz="2400" b="0" strike="noStrike" spc="-1">
              <a:solidFill>
                <a:srgbClr val="000000"/>
              </a:solidFill>
              <a:latin typeface="Arial"/>
            </a:endParaRPr>
          </a:p>
          <a:p>
            <a:pPr>
              <a:lnSpc>
                <a:spcPct val="100000"/>
              </a:lnSpc>
            </a:pPr>
            <a:r>
              <a:rPr lang="es-MX" sz="2400" b="0" strike="noStrike" spc="-1">
                <a:solidFill>
                  <a:srgbClr val="000000"/>
                </a:solidFill>
                <a:latin typeface="Gill Sans"/>
                <a:ea typeface="DejaVu Sans"/>
              </a:rPr>
              <a:t>d) Las formas de presentación de información;</a:t>
            </a:r>
            <a:endParaRPr lang="es-AR" sz="2400" b="0" strike="noStrike" spc="-1">
              <a:solidFill>
                <a:srgbClr val="000000"/>
              </a:solidFill>
              <a:latin typeface="Arial"/>
            </a:endParaRPr>
          </a:p>
          <a:p>
            <a:pPr>
              <a:lnSpc>
                <a:spcPct val="100000"/>
              </a:lnSpc>
            </a:pPr>
            <a:r>
              <a:rPr lang="es-MX" sz="2400" b="0" strike="noStrike" spc="-1">
                <a:solidFill>
                  <a:srgbClr val="000000"/>
                </a:solidFill>
                <a:latin typeface="Gill Sans"/>
                <a:ea typeface="DejaVu Sans"/>
              </a:rPr>
              <a:t>e) </a:t>
            </a:r>
            <a:r>
              <a:rPr lang="es-MX" sz="2400" b="0" u="sng" strike="noStrike" spc="-1">
                <a:solidFill>
                  <a:srgbClr val="000000"/>
                </a:solidFill>
                <a:uFillTx/>
                <a:latin typeface="Gill Sans"/>
                <a:ea typeface="DejaVu Sans"/>
              </a:rPr>
              <a:t>Los métodos de tratamiento quirúrgico, terapeútico o de diagnóstico aplicables al cuerpo humano y los relativos a animales;</a:t>
            </a:r>
            <a:endParaRPr lang="es-AR" sz="2400" b="0" strike="noStrike" spc="-1">
              <a:solidFill>
                <a:srgbClr val="000000"/>
              </a:solidFill>
              <a:latin typeface="Arial"/>
            </a:endParaRPr>
          </a:p>
          <a:p>
            <a:pPr>
              <a:lnSpc>
                <a:spcPct val="100000"/>
              </a:lnSpc>
            </a:pPr>
            <a:endParaRPr lang="es-AR"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457200" y="274680"/>
            <a:ext cx="8228520" cy="1141920"/>
          </a:xfrm>
          <a:prstGeom prst="rect">
            <a:avLst/>
          </a:prstGeom>
          <a:noFill/>
          <a:ln w="9360">
            <a:noFill/>
          </a:ln>
        </p:spPr>
        <p:txBody>
          <a:bodyPr lIns="90000" tIns="45000" rIns="90000" bIns="45000" numCol="1" spcCol="0" anchor="ctr">
            <a:noAutofit/>
          </a:bodyPr>
          <a:lstStyle/>
          <a:p>
            <a:pPr indent="0" algn="ctr">
              <a:buNone/>
            </a:pPr>
            <a:endParaRPr lang="es-AR" sz="1800" b="0" strike="noStrike" spc="-1">
              <a:solidFill>
                <a:srgbClr val="000000"/>
              </a:solidFill>
              <a:latin typeface="Arial"/>
            </a:endParaRPr>
          </a:p>
        </p:txBody>
      </p:sp>
      <p:sp>
        <p:nvSpPr>
          <p:cNvPr id="130" name="CuadroTexto 4"/>
          <p:cNvSpPr/>
          <p:nvPr/>
        </p:nvSpPr>
        <p:spPr>
          <a:xfrm>
            <a:off x="448200" y="2414520"/>
            <a:ext cx="8228520" cy="200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MX" sz="1800" b="0" strike="noStrike" spc="-1">
                <a:solidFill>
                  <a:srgbClr val="000000"/>
                </a:solidFill>
                <a:latin typeface="Gill Sans"/>
                <a:ea typeface="DejaVu Sans"/>
              </a:rPr>
              <a:t>f</a:t>
            </a:r>
            <a:r>
              <a:rPr lang="es-MX" sz="1800" b="0" u="sng" strike="noStrike" spc="-1">
                <a:solidFill>
                  <a:srgbClr val="000000"/>
                </a:solidFill>
                <a:uFillTx/>
                <a:latin typeface="Gill Sans"/>
                <a:ea typeface="DejaVu Sans"/>
              </a:rPr>
              <a:t>)</a:t>
            </a:r>
            <a:r>
              <a:rPr lang="es-MX" sz="1800" b="0" strike="noStrike" spc="-1">
                <a:solidFill>
                  <a:srgbClr val="000000"/>
                </a:solidFill>
                <a:latin typeface="Gill Sans"/>
                <a:ea typeface="DejaVu Sans"/>
              </a:rPr>
              <a:t> </a:t>
            </a:r>
            <a:r>
              <a:rPr lang="es-MX" sz="1800" b="0" u="sng" strike="noStrike" spc="-1">
                <a:solidFill>
                  <a:srgbClr val="000000"/>
                </a:solidFill>
                <a:uFillTx/>
                <a:latin typeface="Gill Sans"/>
                <a:ea typeface="DejaVu Sans"/>
              </a:rPr>
              <a:t>La yuxtaposición de invenciones conocidas o mezclas de productos conocidos,</a:t>
            </a:r>
            <a:r>
              <a:rPr lang="es-MX" sz="1800" b="0" strike="noStrike" spc="-1">
                <a:solidFill>
                  <a:srgbClr val="000000"/>
                </a:solidFill>
                <a:latin typeface="Gill Sans"/>
                <a:ea typeface="DejaVu Sans"/>
              </a:rPr>
              <a:t> su variación de forma, de dimensiones o de materiales, salvo que se trate de su combinación o fusión de tal manera que no puedan funcionar separadamente o que las cualidades o funciones características de las mismas sean modificadas para obtener un resultado industrial no obvio para un técnico en la materia;</a:t>
            </a:r>
            <a:endParaRPr lang="es-AR" sz="1800" b="0" strike="noStrike" spc="-1">
              <a:solidFill>
                <a:srgbClr val="000000"/>
              </a:solidFill>
              <a:latin typeface="Arial"/>
            </a:endParaRPr>
          </a:p>
          <a:p>
            <a:pPr>
              <a:lnSpc>
                <a:spcPct val="100000"/>
              </a:lnSpc>
            </a:pPr>
            <a:r>
              <a:rPr lang="es-MX" sz="1800" b="0" strike="noStrike" spc="-1">
                <a:solidFill>
                  <a:srgbClr val="000000"/>
                </a:solidFill>
                <a:latin typeface="Gill Sans"/>
                <a:ea typeface="DejaVu Sans"/>
              </a:rPr>
              <a:t>g)</a:t>
            </a:r>
            <a:r>
              <a:rPr lang="es-MX" sz="1800" b="0" u="sng" strike="noStrike" spc="-1">
                <a:solidFill>
                  <a:srgbClr val="000000"/>
                </a:solidFill>
                <a:uFillTx/>
                <a:latin typeface="Gill Sans"/>
                <a:ea typeface="DejaVu Sans"/>
              </a:rPr>
              <a:t> Toda clase de materia viva y sustancias preexistentes en la naturaleza.</a:t>
            </a:r>
            <a:endParaRPr lang="es-AR" sz="1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 Box 2"/>
          <p:cNvSpPr/>
          <p:nvPr/>
        </p:nvSpPr>
        <p:spPr>
          <a:xfrm>
            <a:off x="376200" y="208080"/>
            <a:ext cx="8515800" cy="56354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MX" sz="2800" b="1" strike="noStrike" spc="-1">
                <a:solidFill>
                  <a:srgbClr val="000000"/>
                </a:solidFill>
                <a:latin typeface="Times New Roman"/>
                <a:ea typeface="DejaVu Sans"/>
              </a:rPr>
              <a:t>Alcance Territorial </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Tanto en Argentina como en el resto del mundo, l</a:t>
            </a:r>
            <a:r>
              <a:rPr lang="es-ES" sz="2800" b="0" u="sng" strike="noStrike" spc="-1">
                <a:solidFill>
                  <a:srgbClr val="000000"/>
                </a:solidFill>
                <a:uFillTx/>
                <a:latin typeface="Times New Roman"/>
                <a:ea typeface="DejaVu Sans"/>
              </a:rPr>
              <a:t>a protección es nacional. El solicitante debe presentar la solicitud de patente en cada país donde le interese protegerla</a:t>
            </a:r>
            <a:r>
              <a:rPr lang="es-ES" sz="2800" b="0" strike="noStrike" spc="-1">
                <a:solidFill>
                  <a:srgbClr val="000000"/>
                </a:solidFill>
                <a:latin typeface="Times New Roman"/>
                <a:ea typeface="DejaVu Sans"/>
              </a:rPr>
              <a:t>, de acuerdo a las distintas legislaciones nacionales en vigencia. Para ello, puede utilizar las ventajas ofrecidas por el Convenio de París (Ley 17.011).</a:t>
            </a:r>
            <a:endParaRPr lang="es-AR" sz="2800" b="0" strike="noStrike" spc="-1">
              <a:solidFill>
                <a:srgbClr val="000000"/>
              </a:solidFill>
              <a:latin typeface="Arial"/>
            </a:endParaRPr>
          </a:p>
          <a:p>
            <a:pPr>
              <a:lnSpc>
                <a:spcPct val="100000"/>
              </a:lnSpc>
            </a:pPr>
            <a:r>
              <a:rPr lang="es-ES" sz="2800" b="1" strike="noStrike" spc="-1">
                <a:solidFill>
                  <a:srgbClr val="000000"/>
                </a:solidFill>
                <a:latin typeface="Times New Roman"/>
                <a:ea typeface="DejaVu Sans"/>
              </a:rPr>
              <a:t>*¿Qué es el </a:t>
            </a:r>
            <a:r>
              <a:rPr lang="es-ES" sz="2800" b="1" u="sng" strike="noStrike" spc="-1">
                <a:solidFill>
                  <a:srgbClr val="000000"/>
                </a:solidFill>
                <a:uFillTx/>
                <a:latin typeface="Times New Roman"/>
                <a:ea typeface="DejaVu Sans"/>
              </a:rPr>
              <a:t>Convenio de París</a:t>
            </a:r>
            <a:r>
              <a:rPr lang="es-ES" sz="2800" b="1" strike="noStrike" spc="-1">
                <a:solidFill>
                  <a:srgbClr val="000000"/>
                </a:solidFill>
                <a:latin typeface="Times New Roman"/>
                <a:ea typeface="DejaVu Sans"/>
              </a:rPr>
              <a:t>?</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El Convenio de París para la Protección de la Propiedad Industrial es un tratado firmado por nuestro país, ratificado por la ley 17.011 y según su artículo 1° los países a los cuales se aplica el Convenio se constituyen en</a:t>
            </a:r>
            <a:endParaRPr lang="es-AR" sz="2800" b="0" strike="noStrike" spc="-1">
              <a:solidFill>
                <a:srgbClr val="000000"/>
              </a:solidFill>
              <a:latin typeface="Arial"/>
            </a:endParaRPr>
          </a:p>
          <a:p>
            <a:pPr>
              <a:lnSpc>
                <a:spcPct val="100000"/>
              </a:lnSpc>
            </a:pPr>
            <a:r>
              <a:rPr lang="es-ES" sz="2800" b="0" strike="noStrike" spc="-1">
                <a:solidFill>
                  <a:srgbClr val="000000"/>
                </a:solidFill>
                <a:latin typeface="Times New Roman"/>
                <a:ea typeface="DejaVu Sans"/>
              </a:rPr>
              <a:t>Unión para la protección de la propiedad industrial.</a:t>
            </a:r>
            <a:endParaRPr lang="es-AR"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 Box 2"/>
          <p:cNvSpPr/>
          <p:nvPr/>
        </p:nvSpPr>
        <p:spPr>
          <a:xfrm>
            <a:off x="303120" y="136440"/>
            <a:ext cx="183240" cy="3657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endParaRPr lang="es-ES" sz="1800" b="0" strike="noStrike" spc="-1">
              <a:solidFill>
                <a:srgbClr val="000000"/>
              </a:solidFill>
              <a:latin typeface="Arial"/>
              <a:ea typeface="DejaVu Sans"/>
            </a:endParaRPr>
          </a:p>
        </p:txBody>
      </p:sp>
      <p:sp>
        <p:nvSpPr>
          <p:cNvPr id="133" name="Text Box 3"/>
          <p:cNvSpPr/>
          <p:nvPr/>
        </p:nvSpPr>
        <p:spPr>
          <a:xfrm>
            <a:off x="303120" y="136440"/>
            <a:ext cx="8588880" cy="52383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600" b="1" strike="noStrike" spc="-1">
                <a:solidFill>
                  <a:srgbClr val="000000"/>
                </a:solidFill>
                <a:latin typeface="Times New Roman"/>
                <a:ea typeface="DejaVu Sans"/>
              </a:rPr>
              <a:t>*(Convenio de París)</a:t>
            </a:r>
            <a:endParaRPr lang="es-AR" sz="2600" b="0" strike="noStrike" spc="-1">
              <a:solidFill>
                <a:srgbClr val="000000"/>
              </a:solidFill>
              <a:latin typeface="Arial"/>
            </a:endParaRPr>
          </a:p>
          <a:p>
            <a:pPr>
              <a:lnSpc>
                <a:spcPct val="100000"/>
              </a:lnSpc>
            </a:pPr>
            <a:r>
              <a:rPr lang="es-ES" sz="2600" b="0" u="sng" strike="noStrike" spc="-1">
                <a:solidFill>
                  <a:srgbClr val="000000"/>
                </a:solidFill>
                <a:uFillTx/>
                <a:latin typeface="Times New Roman"/>
                <a:ea typeface="DejaVu Sans"/>
              </a:rPr>
              <a:t>Quien hubiere depositado en algún país miembro una solicitud de patente o modelo de utilidad</a:t>
            </a:r>
            <a:r>
              <a:rPr lang="es-ES" sz="2600" b="0" strike="noStrike" spc="-1">
                <a:solidFill>
                  <a:srgbClr val="000000"/>
                </a:solidFill>
                <a:latin typeface="Times New Roman"/>
                <a:ea typeface="DejaVu Sans"/>
              </a:rPr>
              <a:t> y estuviere interesado en presentar la misma solicitud en algún otro país miembro, </a:t>
            </a:r>
            <a:r>
              <a:rPr lang="es-ES" sz="2600" b="0" u="sng" strike="noStrike" spc="-1">
                <a:solidFill>
                  <a:srgbClr val="000000"/>
                </a:solidFill>
                <a:uFillTx/>
                <a:latin typeface="Times New Roman"/>
                <a:ea typeface="DejaVu Sans"/>
              </a:rPr>
              <a:t>tiene derecho a pedir un certificado de prioridad.</a:t>
            </a:r>
            <a:endParaRPr lang="es-AR" sz="2600" b="0" strike="noStrike" spc="-1">
              <a:solidFill>
                <a:srgbClr val="000000"/>
              </a:solidFill>
              <a:latin typeface="Arial"/>
            </a:endParaRPr>
          </a:p>
          <a:p>
            <a:pPr>
              <a:lnSpc>
                <a:spcPct val="100000"/>
              </a:lnSpc>
            </a:pPr>
            <a:r>
              <a:rPr lang="es-ES" sz="2600" b="0" strike="noStrike" spc="-1">
                <a:solidFill>
                  <a:srgbClr val="000000"/>
                </a:solidFill>
                <a:latin typeface="Times New Roman"/>
                <a:ea typeface="DejaVu Sans"/>
              </a:rPr>
              <a:t>Dicha prioridad será expedida por la Oficina receptora de dicha primera solicitud (en este caso la Argentina) y </a:t>
            </a:r>
            <a:r>
              <a:rPr lang="es-ES" sz="2600" b="0" u="sng" strike="noStrike" spc="-1">
                <a:solidFill>
                  <a:srgbClr val="000000"/>
                </a:solidFill>
                <a:uFillTx/>
                <a:latin typeface="Times New Roman"/>
                <a:ea typeface="DejaVu Sans"/>
              </a:rPr>
              <a:t>con ella el solicitante podrá presentar la solicitud en cualquier país miembro</a:t>
            </a:r>
            <a:r>
              <a:rPr lang="es-ES" sz="2600" b="0" strike="noStrike" spc="-1">
                <a:solidFill>
                  <a:srgbClr val="000000"/>
                </a:solidFill>
                <a:latin typeface="Times New Roman"/>
                <a:ea typeface="DejaVu Sans"/>
              </a:rPr>
              <a:t>, invocando dicha prioridad argentina.</a:t>
            </a:r>
            <a:endParaRPr lang="es-AR" sz="2600" b="0" strike="noStrike" spc="-1">
              <a:solidFill>
                <a:srgbClr val="000000"/>
              </a:solidFill>
              <a:latin typeface="Arial"/>
            </a:endParaRPr>
          </a:p>
          <a:p>
            <a:pPr>
              <a:lnSpc>
                <a:spcPct val="100000"/>
              </a:lnSpc>
            </a:pPr>
            <a:r>
              <a:rPr lang="es-ES" sz="2600" b="0" u="sng" strike="noStrike" spc="-1">
                <a:solidFill>
                  <a:srgbClr val="000000"/>
                </a:solidFill>
                <a:uFillTx/>
                <a:latin typeface="Times New Roman"/>
                <a:ea typeface="DejaVu Sans"/>
              </a:rPr>
              <a:t>La  fecha que tendrán en cuenta será la de la presentación original </a:t>
            </a:r>
            <a:r>
              <a:rPr lang="es-ES" sz="2600" b="0" strike="noStrike" spc="-1">
                <a:solidFill>
                  <a:srgbClr val="000000"/>
                </a:solidFill>
                <a:latin typeface="Times New Roman"/>
                <a:ea typeface="DejaVu Sans"/>
              </a:rPr>
              <a:t>en nuestro país y no la de la presentación en esos países, </a:t>
            </a:r>
            <a:r>
              <a:rPr lang="es-ES" sz="2600" b="0" u="sng" strike="noStrike" spc="-1">
                <a:solidFill>
                  <a:srgbClr val="000000"/>
                </a:solidFill>
                <a:uFillTx/>
                <a:latin typeface="Times New Roman"/>
                <a:ea typeface="DejaVu Sans"/>
              </a:rPr>
              <a:t>siempre y cuando  se hubiere realizado dentro de 1 año </a:t>
            </a:r>
            <a:r>
              <a:rPr lang="es-ES" sz="2600" b="0" strike="noStrike" spc="-1">
                <a:solidFill>
                  <a:srgbClr val="000000"/>
                </a:solidFill>
                <a:latin typeface="Times New Roman"/>
                <a:ea typeface="DejaVu Sans"/>
              </a:rPr>
              <a:t>a partir de la presentación original en nuestro país.</a:t>
            </a:r>
            <a:endParaRPr lang="es-AR" sz="26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Box 2"/>
          <p:cNvSpPr/>
          <p:nvPr/>
        </p:nvSpPr>
        <p:spPr>
          <a:xfrm>
            <a:off x="324000" y="115920"/>
            <a:ext cx="8515800" cy="4604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s-ES" sz="1800" b="0" strike="noStrike" spc="-1">
              <a:solidFill>
                <a:srgbClr val="000000"/>
              </a:solidFill>
              <a:latin typeface="Arial"/>
              <a:ea typeface="DejaVu Sans"/>
            </a:endParaRPr>
          </a:p>
        </p:txBody>
      </p:sp>
      <p:pic>
        <p:nvPicPr>
          <p:cNvPr id="135" name="2 Imagen" descr="__provisorio patentes.jpg"/>
          <p:cNvPicPr/>
          <p:nvPr/>
        </p:nvPicPr>
        <p:blipFill>
          <a:blip r:embed="rId2"/>
          <a:stretch/>
        </p:blipFill>
        <p:spPr>
          <a:xfrm>
            <a:off x="611640" y="1412640"/>
            <a:ext cx="7811280" cy="353664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ángulo 135"/>
          <p:cNvSpPr/>
          <p:nvPr/>
        </p:nvSpPr>
        <p:spPr>
          <a:xfrm>
            <a:off x="-85320" y="-3418200"/>
            <a:ext cx="9319320" cy="10584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2A6099"/>
                </a:solidFill>
                <a:latin typeface="Arial"/>
                <a:ea typeface="DejaVu Sans"/>
              </a:rPr>
              <a:t>Cuáles son las etapas del proceso de registro de una patente de invención?</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1" strike="noStrike" spc="-1">
                <a:solidFill>
                  <a:srgbClr val="000000"/>
                </a:solidFill>
                <a:latin typeface="Arial"/>
                <a:ea typeface="DejaVu Sans"/>
              </a:rPr>
              <a:t>1. Presentación de la solicitud:</a:t>
            </a:r>
            <a:r>
              <a:rPr lang="es-AR" sz="1800" b="0" strike="noStrike" spc="-1">
                <a:solidFill>
                  <a:srgbClr val="000000"/>
                </a:solidFill>
                <a:latin typeface="Arial"/>
                <a:ea typeface="DejaVu Sans"/>
              </a:rPr>
              <a:t> </a:t>
            </a:r>
            <a:r>
              <a:rPr lang="es-AR" sz="1800" b="0" u="sng" strike="noStrike" spc="-1">
                <a:solidFill>
                  <a:srgbClr val="000000"/>
                </a:solidFill>
                <a:uFillTx/>
                <a:latin typeface="Arial"/>
                <a:ea typeface="DejaVu Sans"/>
              </a:rPr>
              <a:t>se realiza a través de nuestro portal de trámites. </a:t>
            </a:r>
            <a:r>
              <a:rPr lang="es-AR" sz="1800" b="0" strike="noStrike" spc="-1">
                <a:solidFill>
                  <a:srgbClr val="000000"/>
                </a:solidFill>
                <a:latin typeface="Arial"/>
                <a:ea typeface="DejaVu Sans"/>
              </a:rPr>
              <a:t>Accedé aquí y enterate cómo.</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Hasta tanto no se complete la solicitud y se abone el arancel estipulado, el trámite no se considerará recibido</a:t>
            </a:r>
            <a:r>
              <a:rPr lang="es-AR" sz="1800" b="0" strike="noStrike" spc="-1">
                <a:solidFill>
                  <a:srgbClr val="000000"/>
                </a:solidFill>
                <a:latin typeface="Arial"/>
                <a:ea typeface="DejaVu Sans"/>
              </a:rPr>
              <a:t> y, por ende, no tendrá fecha de presentación.</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1" strike="noStrike" spc="-1">
                <a:solidFill>
                  <a:srgbClr val="000000"/>
                </a:solidFill>
                <a:latin typeface="Arial"/>
                <a:ea typeface="DejaVu Sans"/>
              </a:rPr>
              <a:t>2. Examen preliminar: </a:t>
            </a:r>
            <a:r>
              <a:rPr lang="es-AR" sz="1800" b="0" strike="noStrike" spc="-1">
                <a:solidFill>
                  <a:srgbClr val="000000"/>
                </a:solidFill>
                <a:latin typeface="Arial"/>
                <a:ea typeface="DejaVu Sans"/>
              </a:rPr>
              <a:t>mediante este proceso administrativo se verifica que la información ingresada esté completa y sea adecuada. También se comprueba que el resumen presentado describa correctamente la invención que se desea patentar.</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1" strike="noStrike" spc="-1">
                <a:solidFill>
                  <a:srgbClr val="000000"/>
                </a:solidFill>
                <a:latin typeface="Arial"/>
                <a:ea typeface="DejaVu Sans"/>
              </a:rPr>
              <a:t>2. Publicación de la solicitud: </a:t>
            </a:r>
            <a:r>
              <a:rPr lang="es-AR" sz="1800" b="0" u="sng" strike="noStrike" spc="-1">
                <a:solidFill>
                  <a:srgbClr val="000000"/>
                </a:solidFill>
                <a:uFillTx/>
                <a:latin typeface="Arial"/>
                <a:ea typeface="DejaVu Sans"/>
              </a:rPr>
              <a:t>dentro de los dieciocho (18) meses se publica </a:t>
            </a:r>
            <a:r>
              <a:rPr lang="es-AR" sz="1800" b="0" strike="noStrike" spc="-1">
                <a:solidFill>
                  <a:srgbClr val="000000"/>
                </a:solidFill>
                <a:latin typeface="Arial"/>
                <a:ea typeface="DejaVu Sans"/>
              </a:rPr>
              <a:t>la solicitud </a:t>
            </a:r>
            <a:r>
              <a:rPr lang="es-AR" sz="1800" b="0" u="sng" strike="noStrike" spc="-1">
                <a:solidFill>
                  <a:srgbClr val="000000"/>
                </a:solidFill>
                <a:uFillTx/>
                <a:latin typeface="Arial"/>
                <a:ea typeface="DejaVu Sans"/>
              </a:rPr>
              <a:t>en el Boletín de Patentes.</a:t>
            </a:r>
            <a:r>
              <a:rPr lang="es-AR" sz="1800" b="0" strike="noStrike" spc="-1">
                <a:solidFill>
                  <a:srgbClr val="000000"/>
                </a:solidFill>
                <a:latin typeface="Arial"/>
                <a:ea typeface="DejaVu Sans"/>
              </a:rPr>
              <a:t> Si el solicitante deseara que se publique de manera anticipada debe presentar un escrito a través del portal y abonar el arancel correspondiente.</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A partir de ese momento, cualquier persona puede acceder a su contenido y presentar observaciones dentro de los sesenta (60) días posteriores.</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Las observaciones realizadas por terceros funcionan como recomendaciones para ser evaluadas por los examinadores, pero no pueden por sí mismas detener el trámite.</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Fuente: https://www.argentina.gob.ar/inpi/patentes-de-invencion-y-modelos-de-utilidad#5</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p:txBody>
      </p:sp>
      <p:sp>
        <p:nvSpPr>
          <p:cNvPr id="137" name="CuadroTexto 136"/>
          <p:cNvSpPr txBox="1"/>
          <p:nvPr/>
        </p:nvSpPr>
        <p:spPr>
          <a:xfrm>
            <a:off x="2160" y="6335640"/>
            <a:ext cx="9141840" cy="346680"/>
          </a:xfrm>
          <a:prstGeom prst="rect">
            <a:avLst/>
          </a:prstGeom>
          <a:noFill/>
          <a:ln w="0">
            <a:noFill/>
          </a:ln>
        </p:spPr>
        <p:txBody>
          <a:bodyPr lIns="90000" tIns="45000" rIns="90000" bIns="45000" anchor="t">
            <a:noAutofit/>
          </a:bodyPr>
          <a:lstStyle/>
          <a:p>
            <a:r>
              <a:rPr lang="es-AR" sz="1800" b="0" strike="noStrike" spc="-1">
                <a:solidFill>
                  <a:srgbClr val="000000"/>
                </a:solidFill>
                <a:latin typeface="Arial"/>
                <a:ea typeface="DejaVu Sans"/>
              </a:rPr>
              <a:t>Fuente: https://www.argentina.gob.ar/inpi/patentes-de-invencion-y-modelos-de-utilidad#5</a:t>
            </a:r>
            <a:endParaRPr lang="es-AR" sz="1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Rectángulo 137"/>
          <p:cNvSpPr/>
          <p:nvPr/>
        </p:nvSpPr>
        <p:spPr>
          <a:xfrm>
            <a:off x="-85320" y="509760"/>
            <a:ext cx="9319320" cy="648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s-AR" sz="1800" b="1" strike="noStrike" spc="-1">
                <a:solidFill>
                  <a:srgbClr val="000000"/>
                </a:solidFill>
                <a:latin typeface="Arial"/>
                <a:ea typeface="DejaVu Sans"/>
              </a:rPr>
              <a:t>3. Examen de fondo: </a:t>
            </a:r>
            <a:r>
              <a:rPr lang="es-AR" sz="1800" b="0" strike="noStrike" spc="-1">
                <a:solidFill>
                  <a:srgbClr val="000000"/>
                </a:solidFill>
                <a:latin typeface="Arial"/>
                <a:ea typeface="DejaVu Sans"/>
              </a:rPr>
              <a:t>en esta etapa </a:t>
            </a:r>
            <a:r>
              <a:rPr lang="es-AR" sz="1800" b="0" u="sng" strike="noStrike" spc="-1">
                <a:solidFill>
                  <a:srgbClr val="000000"/>
                </a:solidFill>
                <a:uFillTx/>
                <a:latin typeface="Arial"/>
                <a:ea typeface="DejaVu Sans"/>
              </a:rPr>
              <a:t>el solicitante tiene que pagar un arance</a:t>
            </a:r>
            <a:r>
              <a:rPr lang="es-AR" sz="1800" b="0" strike="noStrike" spc="-1">
                <a:solidFill>
                  <a:srgbClr val="000000"/>
                </a:solidFill>
                <a:latin typeface="Arial"/>
                <a:ea typeface="DejaVu Sans"/>
              </a:rPr>
              <a:t>l, el cual puede abonarse al momento de ingresar la solicitud o a través de la presentación de un escrito que requiera el examen de fondo en el portal de trámites. En el caso de una patente de invención,</a:t>
            </a:r>
            <a:r>
              <a:rPr lang="es-AR" sz="1800" b="0" u="sng" strike="noStrike" spc="-1">
                <a:solidFill>
                  <a:srgbClr val="000000"/>
                </a:solidFill>
                <a:uFillTx/>
                <a:latin typeface="Arial"/>
                <a:ea typeface="DejaVu Sans"/>
              </a:rPr>
              <a:t> el plazo para abonarlo es de dieciocho (18) meses contados a partir de la fecha de presentación.</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Los examinadores realizan una búsqueda en bases de datos nacionales e internacionales para determinar si la solicitud cumple con los tres requisitos de patentabilidad.</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1" strike="noStrike" spc="-1">
                <a:solidFill>
                  <a:srgbClr val="000000"/>
                </a:solidFill>
                <a:latin typeface="Arial"/>
                <a:ea typeface="DejaVu Sans"/>
              </a:rPr>
              <a:t>4. Resolución de la solicitud: </a:t>
            </a:r>
            <a:r>
              <a:rPr lang="es-AR" sz="1800" b="0" u="sng" strike="noStrike" spc="-1">
                <a:solidFill>
                  <a:srgbClr val="000000"/>
                </a:solidFill>
                <a:uFillTx/>
                <a:latin typeface="Arial"/>
                <a:ea typeface="DejaVu Sans"/>
              </a:rPr>
              <a:t>si los pasos anteriores fueron realizados con éxito, la patente será concedida y luego publicada en el Boletín de Patentes.</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Una vez concedida la patente </a:t>
            </a:r>
            <a:r>
              <a:rPr lang="es-AR" sz="1800" b="0" u="sng" strike="noStrike" spc="-1">
                <a:solidFill>
                  <a:srgbClr val="000000"/>
                </a:solidFill>
                <a:uFillTx/>
                <a:latin typeface="Arial"/>
                <a:ea typeface="DejaVu Sans"/>
              </a:rPr>
              <a:t>deben pagarse anualidades para su mantenimiento dentro del plazo. En caso contrario, la patente caduca de pleno derecho y pasa a dominio público.</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En todos los casos, </a:t>
            </a:r>
            <a:r>
              <a:rPr lang="es-AR" sz="1800" b="0" u="sng" strike="noStrike" spc="-1">
                <a:solidFill>
                  <a:srgbClr val="000000"/>
                </a:solidFill>
                <a:uFillTx/>
                <a:latin typeface="Arial"/>
                <a:ea typeface="DejaVu Sans"/>
              </a:rPr>
              <a:t>las resoluciones y observaciones serán notificadas a través de los Boletines de Patentes disponibles en el portal y al domicilio legal electrónico declarado</a:t>
            </a:r>
            <a:r>
              <a:rPr lang="es-AR" sz="1800" b="0" strike="noStrike" spc="-1">
                <a:solidFill>
                  <a:srgbClr val="000000"/>
                </a:solidFill>
                <a:latin typeface="Arial"/>
                <a:ea typeface="DejaVu Sans"/>
              </a:rPr>
              <a:t> en la solicitud, de manera tal que los interesados puedan tomar conocimiento de las novedades.</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Fuente: https://www.argentina.gob.ar/inpi/patentes-de-invencion-y-modelos-de-utilidad#5</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 Box 2"/>
          <p:cNvSpPr/>
          <p:nvPr/>
        </p:nvSpPr>
        <p:spPr>
          <a:xfrm>
            <a:off x="324000" y="189000"/>
            <a:ext cx="8444520" cy="63075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400" b="1" strike="noStrike" spc="-1">
                <a:solidFill>
                  <a:srgbClr val="000000"/>
                </a:solidFill>
                <a:latin typeface="Times New Roman"/>
                <a:ea typeface="DejaVu Sans"/>
              </a:rPr>
              <a:t>*¿Qué es un modelo de utilidad?</a:t>
            </a:r>
            <a:endParaRPr lang="es-AR" sz="2400" b="0" strike="noStrike" spc="-1">
              <a:solidFill>
                <a:srgbClr val="000000"/>
              </a:solidFill>
              <a:latin typeface="Arial"/>
            </a:endParaRPr>
          </a:p>
          <a:p>
            <a:pPr>
              <a:lnSpc>
                <a:spcPct val="100000"/>
              </a:lnSpc>
            </a:pPr>
            <a:r>
              <a:rPr lang="es-ES" sz="2400" b="0" u="sng" strike="noStrike" spc="-1">
                <a:solidFill>
                  <a:srgbClr val="000000"/>
                </a:solidFill>
                <a:uFillTx/>
                <a:latin typeface="Times New Roman"/>
                <a:ea typeface="DejaVu Sans"/>
              </a:rPr>
              <a:t>Es un derecho exclusivo que se concede a una invención y permite al titular del derecho impedir a terceros utilizar comercialmente la invención protegida, sin su autorización, durante un período limitado</a:t>
            </a:r>
            <a:r>
              <a:rPr lang="es-ES" sz="2400" b="0" strike="noStrike" spc="-1">
                <a:solidFill>
                  <a:srgbClr val="000000"/>
                </a:solidFill>
                <a:latin typeface="Times New Roman"/>
                <a:ea typeface="DejaVu Sans"/>
              </a:rPr>
              <a:t>. De acuerdo con su definición básica, que puede variar de un país a otro (en el que se brinde dicha protección), un modelo de utilidad se asemeja a una patente. De hecho, los modelos de utilidad </a:t>
            </a:r>
            <a:r>
              <a:rPr lang="es-ES" sz="2400" b="0" u="sng" strike="noStrike" spc="-1">
                <a:solidFill>
                  <a:srgbClr val="000000"/>
                </a:solidFill>
                <a:uFillTx/>
                <a:latin typeface="Times New Roman"/>
                <a:ea typeface="DejaVu Sans"/>
              </a:rPr>
              <a:t>se denominan a veces "pequeñas patentes" o "patentes de innovación".</a:t>
            </a:r>
            <a:endParaRPr lang="es-AR" sz="2400" b="0" strike="noStrike" spc="-1">
              <a:solidFill>
                <a:srgbClr val="000000"/>
              </a:solidFill>
              <a:latin typeface="Arial"/>
            </a:endParaRPr>
          </a:p>
          <a:p>
            <a:pPr>
              <a:lnSpc>
                <a:spcPct val="100000"/>
              </a:lnSpc>
            </a:pPr>
            <a:endParaRPr lang="es-AR" sz="24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*Principales diferencias con la patente</a:t>
            </a:r>
            <a:endParaRPr lang="es-AR" sz="2400" b="0" strike="noStrike" spc="-1">
              <a:solidFill>
                <a:srgbClr val="000000"/>
              </a:solidFill>
              <a:latin typeface="Arial"/>
            </a:endParaRPr>
          </a:p>
          <a:p>
            <a:pPr>
              <a:lnSpc>
                <a:spcPct val="100000"/>
              </a:lnSpc>
            </a:pPr>
            <a:r>
              <a:rPr lang="es-ES" sz="2400" b="0" strike="noStrike" spc="-1">
                <a:solidFill>
                  <a:srgbClr val="000000"/>
                </a:solidFill>
                <a:latin typeface="Times New Roman"/>
                <a:ea typeface="DejaVu Sans"/>
              </a:rPr>
              <a:t>• </a:t>
            </a:r>
            <a:r>
              <a:rPr lang="es-ES" sz="2400" b="0" u="sng" strike="noStrike" spc="-1">
                <a:solidFill>
                  <a:srgbClr val="000000"/>
                </a:solidFill>
                <a:uFillTx/>
                <a:latin typeface="Times New Roman"/>
                <a:ea typeface="DejaVu Sans"/>
              </a:rPr>
              <a:t>Requisitos menos estrictos</a:t>
            </a:r>
            <a:r>
              <a:rPr lang="es-ES" sz="2400" b="0" strike="noStrike" spc="-1">
                <a:solidFill>
                  <a:srgbClr val="000000"/>
                </a:solidFill>
                <a:latin typeface="Times New Roman"/>
                <a:ea typeface="DejaVu Sans"/>
              </a:rPr>
              <a:t> que para las patentes. Debe satisfacerse el </a:t>
            </a:r>
            <a:r>
              <a:rPr lang="es-ES" sz="2400" b="0" u="sng" strike="noStrike" spc="-1">
                <a:solidFill>
                  <a:srgbClr val="000000"/>
                </a:solidFill>
                <a:uFillTx/>
                <a:latin typeface="Times New Roman"/>
                <a:ea typeface="DejaVu Sans"/>
              </a:rPr>
              <a:t>requisito de la "</a:t>
            </a:r>
            <a:r>
              <a:rPr lang="es-MX" sz="2400" b="0" u="sng" strike="noStrike" spc="-1">
                <a:solidFill>
                  <a:srgbClr val="000000"/>
                </a:solidFill>
                <a:uFillTx/>
                <a:latin typeface="Times New Roman"/>
                <a:ea typeface="DejaVu Sans"/>
              </a:rPr>
              <a:t>novedad</a:t>
            </a:r>
            <a:r>
              <a:rPr lang="es-ES" sz="2400" b="0" strike="noStrike" spc="-1">
                <a:solidFill>
                  <a:srgbClr val="000000"/>
                </a:solidFill>
                <a:latin typeface="Times New Roman"/>
                <a:ea typeface="DejaVu Sans"/>
              </a:rPr>
              <a:t>", los requisitos de </a:t>
            </a:r>
            <a:r>
              <a:rPr lang="es-ES" sz="2400" b="0" u="sng" strike="noStrike" spc="-1">
                <a:solidFill>
                  <a:srgbClr val="000000"/>
                </a:solidFill>
                <a:uFillTx/>
                <a:latin typeface="Times New Roman"/>
                <a:ea typeface="DejaVu Sans"/>
              </a:rPr>
              <a:t>la "actividad inventiva" son mucho más laxos o incluso no existen</a:t>
            </a:r>
            <a:r>
              <a:rPr lang="es-ES" sz="2400" b="0" strike="noStrike" spc="-1">
                <a:solidFill>
                  <a:srgbClr val="000000"/>
                </a:solidFill>
                <a:latin typeface="Times New Roman"/>
                <a:ea typeface="DejaVu Sans"/>
              </a:rPr>
              <a:t>. En la práctica, se utiliza la protección mediante modelos de utilidad para innovaciones menores que quizás no satisfagan los criterios de patentabilidad.</a:t>
            </a:r>
            <a:endParaRPr lang="es-AR"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 name="Imagen 139"/>
          <p:cNvPicPr/>
          <p:nvPr/>
        </p:nvPicPr>
        <p:blipFill>
          <a:blip r:embed="rId2"/>
          <a:stretch/>
        </p:blipFill>
        <p:spPr>
          <a:xfrm>
            <a:off x="688320" y="1261440"/>
            <a:ext cx="2856960" cy="1656720"/>
          </a:xfrm>
          <a:prstGeom prst="rect">
            <a:avLst/>
          </a:prstGeom>
          <a:ln w="0">
            <a:noFill/>
          </a:ln>
        </p:spPr>
      </p:pic>
      <p:pic>
        <p:nvPicPr>
          <p:cNvPr id="141" name="Imagen 140"/>
          <p:cNvPicPr/>
          <p:nvPr/>
        </p:nvPicPr>
        <p:blipFill>
          <a:blip r:embed="rId3"/>
          <a:stretch/>
        </p:blipFill>
        <p:spPr>
          <a:xfrm>
            <a:off x="4736160" y="1380600"/>
            <a:ext cx="2856960" cy="1656720"/>
          </a:xfrm>
          <a:prstGeom prst="rect">
            <a:avLst/>
          </a:prstGeom>
          <a:ln w="0">
            <a:noFill/>
          </a:ln>
        </p:spPr>
      </p:pic>
      <p:pic>
        <p:nvPicPr>
          <p:cNvPr id="142" name="Imagen 8"/>
          <p:cNvPicPr/>
          <p:nvPr/>
        </p:nvPicPr>
        <p:blipFill>
          <a:blip r:embed="rId4"/>
          <a:stretch/>
        </p:blipFill>
        <p:spPr>
          <a:xfrm>
            <a:off x="3156120" y="3766320"/>
            <a:ext cx="1897200" cy="1591200"/>
          </a:xfrm>
          <a:prstGeom prst="rect">
            <a:avLst/>
          </a:prstGeom>
          <a:ln w="0">
            <a:noFill/>
          </a:ln>
        </p:spPr>
      </p:pic>
      <p:sp>
        <p:nvSpPr>
          <p:cNvPr id="143" name="Rectángulo 142"/>
          <p:cNvSpPr/>
          <p:nvPr/>
        </p:nvSpPr>
        <p:spPr>
          <a:xfrm>
            <a:off x="357480" y="198360"/>
            <a:ext cx="8016480" cy="34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AR" sz="1800" b="0" strike="noStrike" spc="-1">
              <a:solidFill>
                <a:srgbClr val="000000"/>
              </a:solidFill>
              <a:latin typeface="Arial"/>
            </a:endParaRPr>
          </a:p>
        </p:txBody>
      </p:sp>
      <p:sp>
        <p:nvSpPr>
          <p:cNvPr id="144" name="Text Box 1"/>
          <p:cNvSpPr/>
          <p:nvPr/>
        </p:nvSpPr>
        <p:spPr>
          <a:xfrm>
            <a:off x="204840" y="189000"/>
            <a:ext cx="8444520" cy="63075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400" b="1" strike="noStrike" spc="-1">
                <a:solidFill>
                  <a:srgbClr val="000000"/>
                </a:solidFill>
                <a:latin typeface="Times New Roman"/>
                <a:ea typeface="DejaVu Sans"/>
              </a:rPr>
              <a:t>*¿Qué es un modelo de utilidad?</a:t>
            </a:r>
            <a:endParaRPr lang="es-AR" sz="2400" b="0" strike="noStrike" spc="-1">
              <a:solidFill>
                <a:srgbClr val="000000"/>
              </a:solidFill>
              <a:latin typeface="Arial"/>
            </a:endParaRPr>
          </a:p>
          <a:p>
            <a:pPr>
              <a:lnSpc>
                <a:spcPct val="100000"/>
              </a:lnSpc>
            </a:pPr>
            <a:r>
              <a:rPr lang="es-ES" sz="2400" b="0" u="sng" strike="noStrike" spc="-1">
                <a:solidFill>
                  <a:srgbClr val="000000"/>
                </a:solidFill>
                <a:uFillTx/>
                <a:latin typeface="Times New Roman"/>
                <a:ea typeface="DejaVu Sans"/>
              </a:rPr>
              <a:t>Es un derecho exclusivo que se concede a una invención y permite al titular del derecho impedir a terceros utilizar comercialmente la invención protegida, sin su autorización, durante un período limitado</a:t>
            </a:r>
            <a:r>
              <a:rPr lang="es-ES" sz="2400" b="0" strike="noStrike" spc="-1">
                <a:solidFill>
                  <a:srgbClr val="000000"/>
                </a:solidFill>
                <a:latin typeface="Times New Roman"/>
                <a:ea typeface="DejaVu Sans"/>
              </a:rPr>
              <a:t>. De acuerdo con su definición básica, que puede variar de un país a otro (en el que se brinde dicha protección), un modelo de utilidad se asemeja a una patente. De hecho, los modelos de utilidad </a:t>
            </a:r>
            <a:r>
              <a:rPr lang="es-ES" sz="2400" b="0" u="sng" strike="noStrike" spc="-1">
                <a:solidFill>
                  <a:srgbClr val="000000"/>
                </a:solidFill>
                <a:uFillTx/>
                <a:latin typeface="Times New Roman"/>
                <a:ea typeface="DejaVu Sans"/>
              </a:rPr>
              <a:t>se denominan a veces "pequeñas patentes" o "patentes de innovación".</a:t>
            </a:r>
            <a:endParaRPr lang="es-AR" sz="2400" b="0" strike="noStrike" spc="-1">
              <a:solidFill>
                <a:srgbClr val="000000"/>
              </a:solidFill>
              <a:latin typeface="Arial"/>
            </a:endParaRPr>
          </a:p>
          <a:p>
            <a:pPr>
              <a:lnSpc>
                <a:spcPct val="100000"/>
              </a:lnSpc>
            </a:pPr>
            <a:endParaRPr lang="es-AR" sz="2400" b="0" strike="noStrike" spc="-1">
              <a:solidFill>
                <a:srgbClr val="000000"/>
              </a:solidFill>
              <a:latin typeface="Arial"/>
            </a:endParaRPr>
          </a:p>
          <a:p>
            <a:pPr>
              <a:lnSpc>
                <a:spcPct val="100000"/>
              </a:lnSpc>
            </a:pPr>
            <a:r>
              <a:rPr lang="es-ES" sz="2400" b="1" strike="noStrike" spc="-1">
                <a:solidFill>
                  <a:srgbClr val="000000"/>
                </a:solidFill>
                <a:latin typeface="Times New Roman"/>
                <a:ea typeface="DejaVu Sans"/>
              </a:rPr>
              <a:t>*Principales diferencias con la patente</a:t>
            </a:r>
            <a:endParaRPr lang="es-AR" sz="2400" b="0" strike="noStrike" spc="-1">
              <a:solidFill>
                <a:srgbClr val="000000"/>
              </a:solidFill>
              <a:latin typeface="Arial"/>
            </a:endParaRPr>
          </a:p>
          <a:p>
            <a:pPr>
              <a:lnSpc>
                <a:spcPct val="100000"/>
              </a:lnSpc>
            </a:pPr>
            <a:r>
              <a:rPr lang="es-ES" sz="2400" b="0" strike="noStrike" spc="-1">
                <a:solidFill>
                  <a:srgbClr val="000000"/>
                </a:solidFill>
                <a:latin typeface="Times New Roman"/>
                <a:ea typeface="DejaVu Sans"/>
              </a:rPr>
              <a:t>• </a:t>
            </a:r>
            <a:r>
              <a:rPr lang="es-ES" sz="2400" b="0" u="sng" strike="noStrike" spc="-1">
                <a:solidFill>
                  <a:srgbClr val="000000"/>
                </a:solidFill>
                <a:uFillTx/>
                <a:latin typeface="Times New Roman"/>
                <a:ea typeface="DejaVu Sans"/>
              </a:rPr>
              <a:t>Requisitos menos estrictos</a:t>
            </a:r>
            <a:r>
              <a:rPr lang="es-ES" sz="2400" b="0" strike="noStrike" spc="-1">
                <a:solidFill>
                  <a:srgbClr val="000000"/>
                </a:solidFill>
                <a:latin typeface="Times New Roman"/>
                <a:ea typeface="DejaVu Sans"/>
              </a:rPr>
              <a:t> que para las patentes. Debe satisfacerse el </a:t>
            </a:r>
            <a:r>
              <a:rPr lang="es-ES" sz="2400" b="0" u="sng" strike="noStrike" spc="-1">
                <a:solidFill>
                  <a:srgbClr val="000000"/>
                </a:solidFill>
                <a:uFillTx/>
                <a:latin typeface="Times New Roman"/>
                <a:ea typeface="DejaVu Sans"/>
              </a:rPr>
              <a:t>requisito de la "</a:t>
            </a:r>
            <a:r>
              <a:rPr lang="es-MX" sz="2400" b="0" u="sng" strike="noStrike" spc="-1">
                <a:solidFill>
                  <a:srgbClr val="000000"/>
                </a:solidFill>
                <a:uFillTx/>
                <a:latin typeface="Times New Roman"/>
                <a:ea typeface="DejaVu Sans"/>
              </a:rPr>
              <a:t>novedad</a:t>
            </a:r>
            <a:r>
              <a:rPr lang="es-ES" sz="2400" b="0" strike="noStrike" spc="-1">
                <a:solidFill>
                  <a:srgbClr val="000000"/>
                </a:solidFill>
                <a:latin typeface="Times New Roman"/>
                <a:ea typeface="DejaVu Sans"/>
              </a:rPr>
              <a:t>", los requisitos de </a:t>
            </a:r>
            <a:r>
              <a:rPr lang="es-ES" sz="2400" b="0" u="sng" strike="noStrike" spc="-1">
                <a:solidFill>
                  <a:srgbClr val="000000"/>
                </a:solidFill>
                <a:uFillTx/>
                <a:latin typeface="Times New Roman"/>
                <a:ea typeface="DejaVu Sans"/>
              </a:rPr>
              <a:t>la "actividad inventiva" son mucho más laxos o incluso no existen</a:t>
            </a:r>
            <a:r>
              <a:rPr lang="es-ES" sz="2400" b="0" strike="noStrike" spc="-1">
                <a:solidFill>
                  <a:srgbClr val="000000"/>
                </a:solidFill>
                <a:latin typeface="Times New Roman"/>
                <a:ea typeface="DejaVu Sans"/>
              </a:rPr>
              <a:t>. En la práctica, se utiliza la protección mediante modelos de utilidad para innovaciones menores que quizás no satisfagan los criterios de patentabilidad.</a:t>
            </a:r>
            <a:endParaRPr lang="es-AR"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 Box 2"/>
          <p:cNvSpPr/>
          <p:nvPr/>
        </p:nvSpPr>
        <p:spPr>
          <a:xfrm>
            <a:off x="395640" y="476640"/>
            <a:ext cx="8442720" cy="50410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2500" b="0" strike="noStrike" spc="-1">
                <a:solidFill>
                  <a:srgbClr val="000000"/>
                </a:solidFill>
                <a:latin typeface="Times New Roman"/>
                <a:ea typeface="DejaVu Sans"/>
              </a:rPr>
              <a:t>• El </a:t>
            </a:r>
            <a:r>
              <a:rPr lang="es-ES" sz="2500" b="0" u="sng" strike="noStrike" spc="-1">
                <a:solidFill>
                  <a:srgbClr val="000000"/>
                </a:solidFill>
                <a:uFillTx/>
                <a:latin typeface="Times New Roman"/>
                <a:ea typeface="DejaVu Sans"/>
              </a:rPr>
              <a:t>plazo de duración de la protección más corto</a:t>
            </a:r>
            <a:r>
              <a:rPr lang="es-ES" sz="2500" b="0" strike="noStrike" spc="-1">
                <a:solidFill>
                  <a:srgbClr val="000000"/>
                </a:solidFill>
                <a:latin typeface="Times New Roman"/>
                <a:ea typeface="DejaVu Sans"/>
              </a:rPr>
              <a:t> que el de las patentes (</a:t>
            </a:r>
            <a:r>
              <a:rPr lang="es-ES" sz="2500" b="0" u="sng" strike="noStrike" spc="-1">
                <a:solidFill>
                  <a:srgbClr val="000000"/>
                </a:solidFill>
                <a:uFillTx/>
                <a:latin typeface="Times New Roman"/>
                <a:ea typeface="DejaVu Sans"/>
              </a:rPr>
              <a:t>10 años</a:t>
            </a:r>
            <a:r>
              <a:rPr lang="es-ES" sz="2500" b="0" strike="noStrike" spc="-1">
                <a:solidFill>
                  <a:srgbClr val="000000"/>
                </a:solidFill>
                <a:latin typeface="Times New Roman"/>
                <a:ea typeface="DejaVu Sans"/>
              </a:rPr>
              <a:t>, sin posibilidad de ampliación o renovación).</a:t>
            </a:r>
            <a:endParaRPr lang="es-AR" sz="2500" b="0" strike="noStrike" spc="-1">
              <a:solidFill>
                <a:srgbClr val="000000"/>
              </a:solidFill>
              <a:latin typeface="Arial"/>
            </a:endParaRPr>
          </a:p>
          <a:p>
            <a:pPr>
              <a:lnSpc>
                <a:spcPct val="100000"/>
              </a:lnSpc>
            </a:pPr>
            <a:r>
              <a:rPr lang="es-ES" sz="2500" b="0" strike="noStrike" spc="-1">
                <a:solidFill>
                  <a:srgbClr val="000000"/>
                </a:solidFill>
                <a:latin typeface="Times New Roman"/>
                <a:ea typeface="DejaVu Sans"/>
              </a:rPr>
              <a:t>• En la mayoría de los países que brindan protección mediante modelos de utilidad, las oficinas de patentes no examinan el fondo de las solicitudes con anterioridad al registro. Esto significa que el </a:t>
            </a:r>
            <a:r>
              <a:rPr lang="es-ES" sz="2500" b="0" u="sng" strike="noStrike" spc="-1">
                <a:solidFill>
                  <a:srgbClr val="000000"/>
                </a:solidFill>
                <a:uFillTx/>
                <a:latin typeface="Times New Roman"/>
                <a:ea typeface="DejaVu Sans"/>
              </a:rPr>
              <a:t>proceso de registro suele ser considerablemente más sencillo y rápido</a:t>
            </a:r>
            <a:r>
              <a:rPr lang="es-ES" sz="2500" b="0" strike="noStrike" spc="-1">
                <a:solidFill>
                  <a:srgbClr val="000000"/>
                </a:solidFill>
                <a:latin typeface="Times New Roman"/>
                <a:ea typeface="DejaVu Sans"/>
              </a:rPr>
              <a:t> y de una duración promedio de seis meses.</a:t>
            </a:r>
            <a:endParaRPr lang="es-AR" sz="2500" b="0" strike="noStrike" spc="-1">
              <a:solidFill>
                <a:srgbClr val="000000"/>
              </a:solidFill>
              <a:latin typeface="Arial"/>
            </a:endParaRPr>
          </a:p>
          <a:p>
            <a:pPr>
              <a:lnSpc>
                <a:spcPct val="100000"/>
              </a:lnSpc>
            </a:pPr>
            <a:r>
              <a:rPr lang="es-ES" sz="2500" b="0" strike="noStrike" spc="-1">
                <a:solidFill>
                  <a:srgbClr val="000000"/>
                </a:solidFill>
                <a:latin typeface="Times New Roman"/>
                <a:ea typeface="DejaVu Sans"/>
              </a:rPr>
              <a:t>• Es mucho </a:t>
            </a:r>
            <a:r>
              <a:rPr lang="es-ES" sz="2500" b="0" u="sng" strike="noStrike" spc="-1">
                <a:solidFill>
                  <a:srgbClr val="000000"/>
                </a:solidFill>
                <a:uFillTx/>
                <a:latin typeface="Times New Roman"/>
                <a:ea typeface="DejaVu Sans"/>
              </a:rPr>
              <a:t>más económico obtener y mantener modelos de utilidad.</a:t>
            </a:r>
            <a:endParaRPr lang="es-AR" sz="2500" b="0" strike="noStrike" spc="-1">
              <a:solidFill>
                <a:srgbClr val="000000"/>
              </a:solidFill>
              <a:latin typeface="Arial"/>
            </a:endParaRPr>
          </a:p>
          <a:p>
            <a:pPr>
              <a:lnSpc>
                <a:spcPct val="100000"/>
              </a:lnSpc>
            </a:pPr>
            <a:r>
              <a:rPr lang="es-ES" sz="2500" b="0" strike="noStrike" spc="-1">
                <a:solidFill>
                  <a:srgbClr val="000000"/>
                </a:solidFill>
                <a:latin typeface="Times New Roman"/>
                <a:ea typeface="DejaVu Sans"/>
              </a:rPr>
              <a:t>Los modelos de utilidad </a:t>
            </a:r>
            <a:r>
              <a:rPr lang="es-ES" sz="2500" b="0" u="sng" strike="noStrike" spc="-1">
                <a:solidFill>
                  <a:srgbClr val="000000"/>
                </a:solidFill>
                <a:uFillTx/>
                <a:latin typeface="Times New Roman"/>
                <a:ea typeface="DejaVu Sans"/>
              </a:rPr>
              <a:t>se consideran particularmente adaptados para las PYME que efectúan mejoras "menores" en productos existentes </a:t>
            </a:r>
            <a:r>
              <a:rPr lang="es-ES" sz="2500" b="0" strike="noStrike" spc="-1">
                <a:solidFill>
                  <a:srgbClr val="000000"/>
                </a:solidFill>
                <a:latin typeface="Times New Roman"/>
                <a:ea typeface="DejaVu Sans"/>
              </a:rPr>
              <a:t>o adapten dichos productos. Los modelos de utilidad</a:t>
            </a:r>
            <a:r>
              <a:rPr lang="es-ES" sz="2500" b="0" u="sng" strike="noStrike" spc="-1">
                <a:solidFill>
                  <a:srgbClr val="000000"/>
                </a:solidFill>
                <a:uFillTx/>
                <a:latin typeface="Times New Roman"/>
                <a:ea typeface="DejaVu Sans"/>
              </a:rPr>
              <a:t> se utilizan principalmente para las innovaciones mecánicas.</a:t>
            </a:r>
            <a:endParaRPr lang="es-AR" sz="25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ectángulo 145"/>
          <p:cNvSpPr/>
          <p:nvPr/>
        </p:nvSpPr>
        <p:spPr>
          <a:xfrm>
            <a:off x="-64080" y="-557640"/>
            <a:ext cx="9276840" cy="751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¿Cuáles son las etapas del proceso de registro de un modelo de utilidad?</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1. </a:t>
            </a:r>
            <a:r>
              <a:rPr lang="es-AR" sz="1800" b="0" u="sng" strike="noStrike" spc="-1">
                <a:solidFill>
                  <a:srgbClr val="000000"/>
                </a:solidFill>
                <a:uFillTx/>
                <a:latin typeface="Arial"/>
                <a:ea typeface="DejaVu Sans"/>
              </a:rPr>
              <a:t>Presentación de la solicitud</a:t>
            </a:r>
            <a:r>
              <a:rPr lang="es-AR" sz="1800" b="0" strike="noStrike" spc="-1">
                <a:solidFill>
                  <a:srgbClr val="000000"/>
                </a:solidFill>
                <a:latin typeface="Arial"/>
                <a:ea typeface="DejaVu Sans"/>
              </a:rPr>
              <a:t>: se realiza a través de nuestro portal de trámites. Accedé aquí y enterate cómo.</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Hasta tanto no se complete la solicitud y </a:t>
            </a:r>
            <a:r>
              <a:rPr lang="es-AR" sz="1800" b="0" u="sng" strike="noStrike" spc="-1">
                <a:solidFill>
                  <a:srgbClr val="000000"/>
                </a:solidFill>
                <a:uFillTx/>
                <a:latin typeface="Arial"/>
                <a:ea typeface="DejaVu Sans"/>
              </a:rPr>
              <a:t>se abone el arancel estipulado</a:t>
            </a:r>
            <a:r>
              <a:rPr lang="es-AR" sz="1800" b="0" strike="noStrike" spc="-1">
                <a:solidFill>
                  <a:srgbClr val="000000"/>
                </a:solidFill>
                <a:latin typeface="Arial"/>
                <a:ea typeface="DejaVu Sans"/>
              </a:rPr>
              <a:t>, el trámite no se considerará recibido y, por ende, no tendrá fecha de presentación.</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2.</a:t>
            </a:r>
            <a:r>
              <a:rPr lang="es-AR" sz="1800" b="0" u="sng" strike="noStrike" spc="-1">
                <a:solidFill>
                  <a:srgbClr val="000000"/>
                </a:solidFill>
                <a:uFillTx/>
                <a:latin typeface="Arial"/>
                <a:ea typeface="DejaVu Sans"/>
              </a:rPr>
              <a:t> Examen de forma y fondo</a:t>
            </a:r>
            <a:r>
              <a:rPr lang="es-AR" sz="1800" b="0" strike="noStrike" spc="-1">
                <a:solidFill>
                  <a:srgbClr val="000000"/>
                </a:solidFill>
                <a:latin typeface="Arial"/>
                <a:ea typeface="DejaVu Sans"/>
              </a:rPr>
              <a:t> de la solicitud de modelo de utilidad: esta etapa </a:t>
            </a:r>
            <a:r>
              <a:rPr lang="es-AR" sz="1800" b="0" u="sng" strike="noStrike" spc="-1">
                <a:solidFill>
                  <a:srgbClr val="000000"/>
                </a:solidFill>
                <a:uFillTx/>
                <a:latin typeface="Arial"/>
                <a:ea typeface="DejaVu Sans"/>
              </a:rPr>
              <a:t>requiere del pago de un arance</a:t>
            </a:r>
            <a:r>
              <a:rPr lang="es-AR" sz="1800" b="0" strike="noStrike" spc="-1">
                <a:solidFill>
                  <a:srgbClr val="000000"/>
                </a:solidFill>
                <a:latin typeface="Arial"/>
                <a:ea typeface="DejaVu Sans"/>
              </a:rPr>
              <a:t>l cuyo plazo, en el caso de un modelo de utilidad, es de tres (3) meses desde la fecha de presentación de la solicitud. Este arancel puede abonarse al momento de ingresar la solicitud o a través de la presentación de un escrito que requiera el examen de fondo en el portal de trámites. Luego, la misma ingresará y aguardará su orden de estudio dependiendo del área técnica a la que corresponda.</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Se trata de un proceso administrativo donde se verifica que la información ingresada esté completa y la documentación respaldatoria sea adecuada. También se comprueba que el resumen y las figuras presentadas describan en su conjunto y de manera correcta la creación técnica que se desea registrar.</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Los examinadores realizan una búsqueda en bases de datos nacionales e internacionales para determinar si la solicitud cumple con los requisitos</a:t>
            </a:r>
            <a:r>
              <a:rPr lang="es-AR" sz="1800" b="0" strike="noStrike" spc="-1">
                <a:solidFill>
                  <a:srgbClr val="000000"/>
                </a:solidFill>
                <a:latin typeface="Arial"/>
                <a:ea typeface="DejaVu Sans"/>
              </a:rPr>
              <a:t> de ser nuevos a nivel mundial y tener aplicación industrial. En caso de encontrar algún error, se le informará al solicitante mediante la publicación en el Boletín de Notificaciones.</a:t>
            </a: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Fuente: https://www.argentina.gob.ar/inpi/patentes-de-invencion-y-modelos-de-utilidad#5</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ángulo 146"/>
          <p:cNvSpPr/>
          <p:nvPr/>
        </p:nvSpPr>
        <p:spPr>
          <a:xfrm>
            <a:off x="-79200" y="-1843920"/>
            <a:ext cx="9307080" cy="879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3. </a:t>
            </a:r>
            <a:r>
              <a:rPr lang="es-AR" sz="1800" b="0" u="sng" strike="noStrike" spc="-1">
                <a:solidFill>
                  <a:srgbClr val="000000"/>
                </a:solidFill>
                <a:uFillTx/>
                <a:latin typeface="Arial"/>
                <a:ea typeface="DejaVu Sans"/>
              </a:rPr>
              <a:t>Publicación de la solicitud: dentro de los dieciocho (18) meses contados desde la presentación,</a:t>
            </a:r>
            <a:r>
              <a:rPr lang="es-AR" sz="1800" b="0" strike="noStrike" spc="-1">
                <a:solidFill>
                  <a:srgbClr val="000000"/>
                </a:solidFill>
                <a:latin typeface="Arial"/>
                <a:ea typeface="DejaVu Sans"/>
              </a:rPr>
              <a:t> y siempre que los pasos anteriores se hubiesen completado de manera favorable, la solicitud se publicará en el Boletín de Patentes. A partir de ese momento, el expediente pasa a ser público y cualquier persona puede acceder a su contenido de acuerdo a lo estipulado en la Ley.</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Los terceros que se sientan afectados por la solicitud poseen treinta (30) días hábiles para presentar observaciones,</a:t>
            </a:r>
            <a:r>
              <a:rPr lang="es-AR" sz="1800" b="0" strike="noStrike" spc="-1">
                <a:solidFill>
                  <a:srgbClr val="000000"/>
                </a:solidFill>
                <a:latin typeface="Arial"/>
                <a:ea typeface="DejaVu Sans"/>
              </a:rPr>
              <a:t> las cuales serán evaluadas por los examinadores pero no pueden detener el trámite por sí mismas.</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4. </a:t>
            </a:r>
            <a:r>
              <a:rPr lang="es-AR" sz="1800" b="0" u="sng" strike="noStrike" spc="-1">
                <a:solidFill>
                  <a:srgbClr val="000000"/>
                </a:solidFill>
                <a:uFillTx/>
                <a:latin typeface="Arial"/>
                <a:ea typeface="DejaVu Sans"/>
              </a:rPr>
              <a:t>Resolución de la solicitud:</a:t>
            </a:r>
            <a:r>
              <a:rPr lang="es-AR" sz="1800" b="0" strike="noStrike" spc="-1">
                <a:solidFill>
                  <a:srgbClr val="000000"/>
                </a:solidFill>
                <a:latin typeface="Arial"/>
                <a:ea typeface="DejaVu Sans"/>
              </a:rPr>
              <a:t> luego de la publicación, y en función de las observaciones de terceros que pudieran haber ocurrido, </a:t>
            </a:r>
            <a:r>
              <a:rPr lang="es-AR" sz="1800" b="0" u="sng" strike="noStrike" spc="-1">
                <a:solidFill>
                  <a:srgbClr val="000000"/>
                </a:solidFill>
                <a:uFillTx/>
                <a:latin typeface="Arial"/>
                <a:ea typeface="DejaVu Sans"/>
              </a:rPr>
              <a:t>se evalúa si corresponde correrle traslado al solicitante</a:t>
            </a:r>
            <a:r>
              <a:rPr lang="es-AR" sz="1800" b="0" strike="noStrike" spc="-1">
                <a:solidFill>
                  <a:srgbClr val="000000"/>
                </a:solidFill>
                <a:latin typeface="Arial"/>
                <a:ea typeface="DejaVu Sans"/>
              </a:rPr>
              <a:t> para que realice su descargo o si se desestiman.</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A continuación, en caso que existieran observaciones, se vuelve a revisar si la solicitud cumple con los requisitos de patentabilidad. En caso de cumplimentarlos y no estar comprendida dentro de las excepciones descritas en la normativa vigente, la solicitud será concedida.</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En cambio, </a:t>
            </a:r>
            <a:r>
              <a:rPr lang="es-AR" sz="1800" b="0" u="sng" strike="noStrike" spc="-1">
                <a:solidFill>
                  <a:srgbClr val="000000"/>
                </a:solidFill>
                <a:uFillTx/>
                <a:latin typeface="Arial"/>
                <a:ea typeface="DejaVu Sans"/>
              </a:rPr>
              <a:t>si no se abonara la tasa de examen de fondo, si no se contestaran las observaciones o si no se cumplieran otros requisitos, la solicitud será desistida o denegada</a:t>
            </a:r>
            <a:r>
              <a:rPr lang="es-AR" sz="1800" b="0" strike="noStrike" spc="-1">
                <a:solidFill>
                  <a:srgbClr val="000000"/>
                </a:solidFill>
                <a:latin typeface="Arial"/>
                <a:ea typeface="DejaVu Sans"/>
              </a:rPr>
              <a:t>, según corresponda.</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En todos los casos, las resoluciones y observaciones serán notificadas a través de los Boletines de Patentes disponibles en el portal. Luego, se enviará un mensaje de aviso al correo electrónico</a:t>
            </a:r>
            <a:r>
              <a:rPr lang="es-AR" sz="1800" b="0" strike="noStrike" spc="-1">
                <a:solidFill>
                  <a:srgbClr val="000000"/>
                </a:solidFill>
                <a:latin typeface="Arial"/>
                <a:ea typeface="DejaVu Sans"/>
              </a:rPr>
              <a:t> declarado en la solicitud.</a:t>
            </a:r>
            <a:endParaRPr lang="es-AR" sz="1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ángulo 147"/>
          <p:cNvSpPr/>
          <p:nvPr/>
        </p:nvSpPr>
        <p:spPr>
          <a:xfrm>
            <a:off x="238320" y="250560"/>
            <a:ext cx="8596800" cy="7256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s-AR" sz="1800" b="1" u="sng" strike="noStrike" spc="-1">
                <a:solidFill>
                  <a:srgbClr val="000000"/>
                </a:solidFill>
                <a:uFillTx/>
                <a:latin typeface="Arial"/>
                <a:ea typeface="DejaVu Sans"/>
              </a:rPr>
              <a:t>Modelos y Diseños Industriales</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Concepto:</a:t>
            </a:r>
            <a:r>
              <a:rPr lang="es-AR" sz="1800" b="0" strike="noStrike" spc="-1">
                <a:solidFill>
                  <a:srgbClr val="000000"/>
                </a:solidFill>
                <a:latin typeface="Arial"/>
                <a:ea typeface="DejaVu Sans"/>
              </a:rPr>
              <a:t>  Forma o aspecto aplicados a un producto industrial que le atribuyen carácter ornamental</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Regulacion Legal:</a:t>
            </a:r>
            <a:r>
              <a:rPr lang="es-AR" sz="1800" b="0" strike="noStrike" spc="-1">
                <a:solidFill>
                  <a:srgbClr val="000000"/>
                </a:solidFill>
                <a:latin typeface="Arial"/>
                <a:ea typeface="DejaVu Sans"/>
              </a:rPr>
              <a:t>  Decreto ley 6673/63 y Decreto reglamentario 5682/65</a:t>
            </a: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Modelo Industrial: tridimensional</a:t>
            </a: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Diseño Industrial: dimensional ( diseño o dibujo)</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Registro de Modelos y Diseños Industriales:</a:t>
            </a:r>
            <a:r>
              <a:rPr lang="es-AR" sz="1800" b="0" strike="noStrike" spc="-1">
                <a:solidFill>
                  <a:srgbClr val="000000"/>
                </a:solidFill>
                <a:latin typeface="Arial"/>
                <a:ea typeface="DejaVu Sans"/>
              </a:rPr>
              <a:t> se debe registrar para poseer derecho exclusivo de explotacion.</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Derecho que otorga </a:t>
            </a:r>
            <a:r>
              <a:rPr lang="es-AR" sz="1800" b="0" strike="noStrike" spc="-1">
                <a:solidFill>
                  <a:srgbClr val="000000"/>
                </a:solidFill>
                <a:latin typeface="Arial"/>
                <a:ea typeface="DejaVu Sans"/>
              </a:rPr>
              <a:t>: exclusivo de explotacion( uso,fabricacion, cesion, venta, etc.)</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Requisito:</a:t>
            </a:r>
            <a:r>
              <a:rPr lang="es-AR" sz="1800" b="0" strike="noStrike" spc="-1">
                <a:solidFill>
                  <a:srgbClr val="000000"/>
                </a:solidFill>
                <a:latin typeface="Arial"/>
                <a:ea typeface="DejaVu Sans"/>
              </a:rPr>
              <a:t> Novedad mundial</a:t>
            </a: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Excepción: si se hace publico dentro por el autor antes de los 6 meses de presentada la solicitud.</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Alcance: </a:t>
            </a:r>
            <a:r>
              <a:rPr lang="es-AR" sz="1800" b="0" strike="noStrike" spc="-1">
                <a:solidFill>
                  <a:srgbClr val="000000"/>
                </a:solidFill>
                <a:latin typeface="Arial"/>
                <a:ea typeface="DejaVu Sans"/>
              </a:rPr>
              <a:t>territorial(ej. Argentina)</a:t>
            </a: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Convenio de Paris: derecho de prioridad dentro de 6 meses.</a:t>
            </a:r>
            <a:endParaRPr lang="es-AR" sz="1800" b="0" strike="noStrike" spc="-1">
              <a:solidFill>
                <a:srgbClr val="000000"/>
              </a:solidFill>
              <a:latin typeface="Arial"/>
            </a:endParaRPr>
          </a:p>
          <a:p>
            <a:pPr>
              <a:lnSpc>
                <a:spcPct val="100000"/>
              </a:lnSpc>
            </a:pPr>
            <a:r>
              <a:rPr lang="es-AR" sz="1800" b="0" u="sng" strike="noStrike" spc="-1">
                <a:solidFill>
                  <a:srgbClr val="000000"/>
                </a:solidFill>
                <a:uFillTx/>
                <a:latin typeface="Arial"/>
                <a:ea typeface="DejaVu Sans"/>
              </a:rPr>
              <a:t>Diseño elaborado en relacion de dependencia:</a:t>
            </a:r>
            <a:r>
              <a:rPr lang="es-AR" sz="1800" b="0" strike="noStrike" spc="-1">
                <a:solidFill>
                  <a:srgbClr val="000000"/>
                </a:solidFill>
                <a:latin typeface="Arial"/>
                <a:ea typeface="DejaVu Sans"/>
              </a:rPr>
              <a:t> pertenece a empleador si se lo contrato para ese fin.</a:t>
            </a: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endParaRPr lang="es-AR" sz="1800" b="0" strike="noStrike" spc="-1">
              <a:solidFill>
                <a:srgbClr val="000000"/>
              </a:solidFill>
              <a:latin typeface="Arial"/>
            </a:endParaRPr>
          </a:p>
          <a:p>
            <a:pPr>
              <a:lnSpc>
                <a:spcPct val="100000"/>
              </a:lnSpc>
            </a:pPr>
            <a:r>
              <a:rPr lang="es-AR" sz="1800" b="0" strike="noStrike" spc="-1">
                <a:solidFill>
                  <a:srgbClr val="000000"/>
                </a:solidFill>
                <a:latin typeface="Arial"/>
                <a:ea typeface="DejaVu Sans"/>
              </a:rPr>
              <a:t>  </a:t>
            </a:r>
            <a:endParaRPr lang="es-AR" sz="1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ext Box 4"/>
          <p:cNvSpPr/>
          <p:nvPr/>
        </p:nvSpPr>
        <p:spPr>
          <a:xfrm>
            <a:off x="2090520" y="2495520"/>
            <a:ext cx="5223240" cy="57708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s-ES" sz="3200" b="0" strike="noStrike" spc="-1">
                <a:solidFill>
                  <a:srgbClr val="000000"/>
                </a:solidFill>
                <a:latin typeface="Times New Roman"/>
                <a:ea typeface="DejaVu Sans"/>
              </a:rPr>
              <a:t>FIN DE LA PRESENTACIÓN</a:t>
            </a:r>
            <a:endParaRPr lang="es-AR" sz="3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pull dir="d"/>
      </p:transition>
    </mc:Choice>
    <mc:Fallback xmlns:p15="http://schemas.microsoft.com/office/powerpoint/2012/main" xmlns="">
      <p:transition spd="slow">
        <p:pull dir="d"/>
      </p:transition>
    </mc:Fallback>
  </mc:AlternateContent>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1564</TotalTime>
  <Words>3657</Words>
  <Application>Microsoft Office PowerPoint</Application>
  <PresentationFormat>Presentación en pantalla (4:3)</PresentationFormat>
  <Paragraphs>222</Paragraphs>
  <Slides>41</Slides>
  <Notes>1</Notes>
  <HiddenSlides>0</HiddenSlides>
  <ScaleCrop>false</ScaleCrop>
  <HeadingPairs>
    <vt:vector size="4" baseType="variant">
      <vt:variant>
        <vt:lpstr>Tema</vt:lpstr>
      </vt:variant>
      <vt:variant>
        <vt:i4>2</vt:i4>
      </vt:variant>
      <vt:variant>
        <vt:lpstr>Títulos de diapositiva</vt:lpstr>
      </vt:variant>
      <vt:variant>
        <vt:i4>41</vt:i4>
      </vt:variant>
    </vt:vector>
  </HeadingPairs>
  <TitlesOfParts>
    <vt:vector size="43" baseType="lpstr">
      <vt:lpstr>Diseño predeterminado</vt:lpstr>
      <vt:lpstr>Diseño predeterminado</vt:lpstr>
      <vt:lpstr>Presentación de PowerPoint</vt:lpstr>
      <vt:lpstr>Rescatemos conocimientos previos</vt:lpstr>
      <vt:lpstr>Rescatemos conocimientos previos(CCCN)</vt:lpstr>
      <vt:lpstr>Consagración Constitucional </vt:lpstr>
      <vt:lpstr>Propiedad Industrial e Intelectual(panorama general)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subject/>
  <dc:creator>Néstor Pagani</dc:creator>
  <dc:description/>
  <cp:lastModifiedBy>Martin Iranzi</cp:lastModifiedBy>
  <cp:revision>84</cp:revision>
  <dcterms:created xsi:type="dcterms:W3CDTF">2011-11-04T11:42:16Z</dcterms:created>
  <dcterms:modified xsi:type="dcterms:W3CDTF">2026-06-09T14:05:45Z</dcterms:modified>
  <dc:language>es-AR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Presentación en pantalla (4:3)</vt:lpwstr>
  </property>
  <property fmtid="{D5CDD505-2E9C-101B-9397-08002B2CF9AE}" pid="4" name="Slides">
    <vt:i4>33</vt:i4>
  </property>
</Properties>
</file>